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90" r:id="rId3"/>
    <p:sldId id="291" r:id="rId4"/>
    <p:sldId id="292" r:id="rId5"/>
    <p:sldId id="293" r:id="rId6"/>
    <p:sldId id="294" r:id="rId7"/>
    <p:sldId id="260" r:id="rId8"/>
    <p:sldId id="262" r:id="rId9"/>
    <p:sldId id="265" r:id="rId10"/>
    <p:sldId id="263" r:id="rId11"/>
    <p:sldId id="266" r:id="rId12"/>
    <p:sldId id="268" r:id="rId13"/>
    <p:sldId id="267" r:id="rId14"/>
    <p:sldId id="276" r:id="rId15"/>
    <p:sldId id="277" r:id="rId16"/>
    <p:sldId id="279" r:id="rId17"/>
    <p:sldId id="269" r:id="rId18"/>
    <p:sldId id="270" r:id="rId19"/>
    <p:sldId id="280" r:id="rId20"/>
    <p:sldId id="281" r:id="rId21"/>
    <p:sldId id="271" r:id="rId22"/>
    <p:sldId id="272" r:id="rId23"/>
    <p:sldId id="282" r:id="rId24"/>
    <p:sldId id="284" r:id="rId25"/>
    <p:sldId id="258" r:id="rId26"/>
    <p:sldId id="295" r:id="rId27"/>
    <p:sldId id="285" r:id="rId28"/>
    <p:sldId id="286" r:id="rId29"/>
    <p:sldId id="289" r:id="rId30"/>
    <p:sldId id="283" r:id="rId31"/>
    <p:sldId id="287" r:id="rId32"/>
    <p:sldId id="288" r:id="rId33"/>
    <p:sldId id="273" r:id="rId34"/>
    <p:sldId id="274" r:id="rId35"/>
    <p:sldId id="275" r:id="rId36"/>
    <p:sldId id="26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2F6F38-1A2F-C09B-BF94-E269C332DA24}" v="24" dt="2026-06-09T19:08:59.937"/>
    <p1510:client id="{FC308A30-E6C7-98D6-265A-9E5197D61690}" v="292" dt="2026-06-11T18:59:05.1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wden, Lacey (hunt3247@vandals.uidaho.edu)" userId="S::hunt3247@vandals.uidaho.edu::00e36877-4d68-474a-9cab-67e27c7d8759" providerId="AD" clId="Web-{3BBFFAEB-3659-5CD3-CB6B-D69CC208CE83}"/>
    <pc:docChg chg="modSld">
      <pc:chgData name="Bowden, Lacey (hunt3247@vandals.uidaho.edu)" userId="S::hunt3247@vandals.uidaho.edu::00e36877-4d68-474a-9cab-67e27c7d8759" providerId="AD" clId="Web-{3BBFFAEB-3659-5CD3-CB6B-D69CC208CE83}" dt="2026-06-05T23:24:57.886" v="6" actId="20577"/>
      <pc:docMkLst>
        <pc:docMk/>
      </pc:docMkLst>
      <pc:sldChg chg="modSp">
        <pc:chgData name="Bowden, Lacey (hunt3247@vandals.uidaho.edu)" userId="S::hunt3247@vandals.uidaho.edu::00e36877-4d68-474a-9cab-67e27c7d8759" providerId="AD" clId="Web-{3BBFFAEB-3659-5CD3-CB6B-D69CC208CE83}" dt="2026-06-05T23:24:57.886" v="6" actId="20577"/>
        <pc:sldMkLst>
          <pc:docMk/>
          <pc:sldMk cId="109857222" sldId="256"/>
        </pc:sldMkLst>
        <pc:spChg chg="mod">
          <ac:chgData name="Bowden, Lacey (hunt3247@vandals.uidaho.edu)" userId="S::hunt3247@vandals.uidaho.edu::00e36877-4d68-474a-9cab-67e27c7d8759" providerId="AD" clId="Web-{3BBFFAEB-3659-5CD3-CB6B-D69CC208CE83}" dt="2026-06-05T23:24:51.730" v="1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Bowden, Lacey (hunt3247@vandals.uidaho.edu)" userId="S::hunt3247@vandals.uidaho.edu::00e36877-4d68-474a-9cab-67e27c7d8759" providerId="AD" clId="Web-{3BBFFAEB-3659-5CD3-CB6B-D69CC208CE83}" dt="2026-06-05T23:24:57.886" v="6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Bowden, Lacey (hunt3247@vandals.uidaho.edu)" userId="S::hunt3247@vandals.uidaho.edu::00e36877-4d68-474a-9cab-67e27c7d8759" providerId="AD" clId="Web-{FC308A30-E6C7-98D6-265A-9E5197D61690}"/>
    <pc:docChg chg="addSld delSld modSld sldOrd">
      <pc:chgData name="Bowden, Lacey (hunt3247@vandals.uidaho.edu)" userId="S::hunt3247@vandals.uidaho.edu::00e36877-4d68-474a-9cab-67e27c7d8759" providerId="AD" clId="Web-{FC308A30-E6C7-98D6-265A-9E5197D61690}" dt="2026-06-11T18:59:05.156" v="256"/>
      <pc:docMkLst>
        <pc:docMk/>
      </pc:docMkLst>
      <pc:sldChg chg="modSp add del ord">
        <pc:chgData name="Bowden, Lacey (hunt3247@vandals.uidaho.edu)" userId="S::hunt3247@vandals.uidaho.edu::00e36877-4d68-474a-9cab-67e27c7d8759" providerId="AD" clId="Web-{FC308A30-E6C7-98D6-265A-9E5197D61690}" dt="2026-06-11T18:58:53.280" v="254"/>
        <pc:sldMkLst>
          <pc:docMk/>
          <pc:sldMk cId="3507064825" sldId="258"/>
        </pc:sldMkLst>
        <pc:spChg chg="mod">
          <ac:chgData name="Bowden, Lacey (hunt3247@vandals.uidaho.edu)" userId="S::hunt3247@vandals.uidaho.edu::00e36877-4d68-474a-9cab-67e27c7d8759" providerId="AD" clId="Web-{FC308A30-E6C7-98D6-265A-9E5197D61690}" dt="2026-06-11T18:58:49.874" v="253" actId="20577"/>
          <ac:spMkLst>
            <pc:docMk/>
            <pc:sldMk cId="3507064825" sldId="258"/>
            <ac:spMk id="2" creationId="{8C4AF13F-7CCB-D17A-656E-648F4A9B8DEF}"/>
          </ac:spMkLst>
        </pc:spChg>
      </pc:sldChg>
      <pc:sldChg chg="delSp delAnim">
        <pc:chgData name="Bowden, Lacey (hunt3247@vandals.uidaho.edu)" userId="S::hunt3247@vandals.uidaho.edu::00e36877-4d68-474a-9cab-67e27c7d8759" providerId="AD" clId="Web-{FC308A30-E6C7-98D6-265A-9E5197D61690}" dt="2026-06-11T18:59:05.156" v="256"/>
        <pc:sldMkLst>
          <pc:docMk/>
          <pc:sldMk cId="542526027" sldId="284"/>
        </pc:sldMkLst>
        <pc:spChg chg="del">
          <ac:chgData name="Bowden, Lacey (hunt3247@vandals.uidaho.edu)" userId="S::hunt3247@vandals.uidaho.edu::00e36877-4d68-474a-9cab-67e27c7d8759" providerId="AD" clId="Web-{FC308A30-E6C7-98D6-265A-9E5197D61690}" dt="2026-06-11T18:59:05.156" v="256"/>
          <ac:spMkLst>
            <pc:docMk/>
            <pc:sldMk cId="542526027" sldId="284"/>
            <ac:spMk id="8" creationId="{DB425B6F-AE01-94CD-856E-91589EB12AF9}"/>
          </ac:spMkLst>
        </pc:spChg>
      </pc:sldChg>
      <pc:sldChg chg="modSp new ord">
        <pc:chgData name="Bowden, Lacey (hunt3247@vandals.uidaho.edu)" userId="S::hunt3247@vandals.uidaho.edu::00e36877-4d68-474a-9cab-67e27c7d8759" providerId="AD" clId="Web-{FC308A30-E6C7-98D6-265A-9E5197D61690}" dt="2026-06-11T18:52:46.571" v="219"/>
        <pc:sldMkLst>
          <pc:docMk/>
          <pc:sldMk cId="3977547241" sldId="290"/>
        </pc:sldMkLst>
        <pc:spChg chg="mod">
          <ac:chgData name="Bowden, Lacey (hunt3247@vandals.uidaho.edu)" userId="S::hunt3247@vandals.uidaho.edu::00e36877-4d68-474a-9cab-67e27c7d8759" providerId="AD" clId="Web-{FC308A30-E6C7-98D6-265A-9E5197D61690}" dt="2026-06-11T18:34:44.924" v="15" actId="20577"/>
          <ac:spMkLst>
            <pc:docMk/>
            <pc:sldMk cId="3977547241" sldId="290"/>
            <ac:spMk id="2" creationId="{94E048BB-E536-694A-B963-70299E3B6C57}"/>
          </ac:spMkLst>
        </pc:spChg>
        <pc:spChg chg="mod">
          <ac:chgData name="Bowden, Lacey (hunt3247@vandals.uidaho.edu)" userId="S::hunt3247@vandals.uidaho.edu::00e36877-4d68-474a-9cab-67e27c7d8759" providerId="AD" clId="Web-{FC308A30-E6C7-98D6-265A-9E5197D61690}" dt="2026-06-11T18:44:35.390" v="218" actId="20577"/>
          <ac:spMkLst>
            <pc:docMk/>
            <pc:sldMk cId="3977547241" sldId="290"/>
            <ac:spMk id="3" creationId="{FA221A2E-D3AA-5296-090E-413A066ADEF6}"/>
          </ac:spMkLst>
        </pc:spChg>
      </pc:sldChg>
      <pc:sldChg chg="addSp modSp add addAnim delAnim">
        <pc:chgData name="Bowden, Lacey (hunt3247@vandals.uidaho.edu)" userId="S::hunt3247@vandals.uidaho.edu::00e36877-4d68-474a-9cab-67e27c7d8759" providerId="AD" clId="Web-{FC308A30-E6C7-98D6-265A-9E5197D61690}" dt="2026-06-11T18:39:15.880" v="114"/>
        <pc:sldMkLst>
          <pc:docMk/>
          <pc:sldMk cId="601425918" sldId="291"/>
        </pc:sldMkLst>
        <pc:spChg chg="mod">
          <ac:chgData name="Bowden, Lacey (hunt3247@vandals.uidaho.edu)" userId="S::hunt3247@vandals.uidaho.edu::00e36877-4d68-474a-9cab-67e27c7d8759" providerId="AD" clId="Web-{FC308A30-E6C7-98D6-265A-9E5197D61690}" dt="2026-06-11T18:38:00.067" v="101" actId="14100"/>
          <ac:spMkLst>
            <pc:docMk/>
            <pc:sldMk cId="601425918" sldId="291"/>
            <ac:spMk id="3" creationId="{E5D42968-6CF6-E202-29AA-FB4963A18418}"/>
          </ac:spMkLst>
        </pc:spChg>
        <pc:spChg chg="add mod ord">
          <ac:chgData name="Bowden, Lacey (hunt3247@vandals.uidaho.edu)" userId="S::hunt3247@vandals.uidaho.edu::00e36877-4d68-474a-9cab-67e27c7d8759" providerId="AD" clId="Web-{FC308A30-E6C7-98D6-265A-9E5197D61690}" dt="2026-06-11T18:36:28.347" v="58"/>
          <ac:spMkLst>
            <pc:docMk/>
            <pc:sldMk cId="601425918" sldId="291"/>
            <ac:spMk id="4" creationId="{EC683916-F293-8396-B16F-890B5B47B1C6}"/>
          </ac:spMkLst>
        </pc:spChg>
        <pc:spChg chg="add mod ord">
          <ac:chgData name="Bowden, Lacey (hunt3247@vandals.uidaho.edu)" userId="S::hunt3247@vandals.uidaho.edu::00e36877-4d68-474a-9cab-67e27c7d8759" providerId="AD" clId="Web-{FC308A30-E6C7-98D6-265A-9E5197D61690}" dt="2026-06-11T18:38:05.457" v="102" actId="14100"/>
          <ac:spMkLst>
            <pc:docMk/>
            <pc:sldMk cId="601425918" sldId="291"/>
            <ac:spMk id="6" creationId="{27340B72-341B-A7D1-5B83-7E96614E3657}"/>
          </ac:spMkLst>
        </pc:spChg>
        <pc:spChg chg="add mod">
          <ac:chgData name="Bowden, Lacey (hunt3247@vandals.uidaho.edu)" userId="S::hunt3247@vandals.uidaho.edu::00e36877-4d68-474a-9cab-67e27c7d8759" providerId="AD" clId="Web-{FC308A30-E6C7-98D6-265A-9E5197D61690}" dt="2026-06-11T18:38:19.864" v="109" actId="1076"/>
          <ac:spMkLst>
            <pc:docMk/>
            <pc:sldMk cId="601425918" sldId="291"/>
            <ac:spMk id="7" creationId="{195648E3-A01F-491F-9FB4-5FC04A88F29C}"/>
          </ac:spMkLst>
        </pc:spChg>
        <pc:spChg chg="mod">
          <ac:chgData name="Bowden, Lacey (hunt3247@vandals.uidaho.edu)" userId="S::hunt3247@vandals.uidaho.edu::00e36877-4d68-474a-9cab-67e27c7d8759" providerId="AD" clId="Web-{FC308A30-E6C7-98D6-265A-9E5197D61690}" dt="2026-06-11T18:39:08.458" v="113" actId="1076"/>
          <ac:spMkLst>
            <pc:docMk/>
            <pc:sldMk cId="601425918" sldId="291"/>
            <ac:spMk id="8" creationId="{3EC97902-AC79-4B5A-D2F3-3CC297DAAF23}"/>
          </ac:spMkLst>
        </pc:spChg>
        <pc:picChg chg="mod">
          <ac:chgData name="Bowden, Lacey (hunt3247@vandals.uidaho.edu)" userId="S::hunt3247@vandals.uidaho.edu::00e36877-4d68-474a-9cab-67e27c7d8759" providerId="AD" clId="Web-{FC308A30-E6C7-98D6-265A-9E5197D61690}" dt="2026-06-11T18:34:14.783" v="2" actId="1076"/>
          <ac:picMkLst>
            <pc:docMk/>
            <pc:sldMk cId="601425918" sldId="291"/>
            <ac:picMk id="5" creationId="{57748945-B914-B304-88DB-661C414FE2AA}"/>
          </ac:picMkLst>
        </pc:picChg>
      </pc:sldChg>
      <pc:sldChg chg="modSp new">
        <pc:chgData name="Bowden, Lacey (hunt3247@vandals.uidaho.edu)" userId="S::hunt3247@vandals.uidaho.edu::00e36877-4d68-474a-9cab-67e27c7d8759" providerId="AD" clId="Web-{FC308A30-E6C7-98D6-265A-9E5197D61690}" dt="2026-06-11T18:54:22.056" v="224" actId="20577"/>
        <pc:sldMkLst>
          <pc:docMk/>
          <pc:sldMk cId="3385150610" sldId="292"/>
        </pc:sldMkLst>
        <pc:spChg chg="mod">
          <ac:chgData name="Bowden, Lacey (hunt3247@vandals.uidaho.edu)" userId="S::hunt3247@vandals.uidaho.edu::00e36877-4d68-474a-9cab-67e27c7d8759" providerId="AD" clId="Web-{FC308A30-E6C7-98D6-265A-9E5197D61690}" dt="2026-06-11T18:53:42.009" v="222" actId="20577"/>
          <ac:spMkLst>
            <pc:docMk/>
            <pc:sldMk cId="3385150610" sldId="292"/>
            <ac:spMk id="2" creationId="{10902E32-E2D2-38FC-96A9-E05F85D1C055}"/>
          </ac:spMkLst>
        </pc:spChg>
        <pc:spChg chg="mod">
          <ac:chgData name="Bowden, Lacey (hunt3247@vandals.uidaho.edu)" userId="S::hunt3247@vandals.uidaho.edu::00e36877-4d68-474a-9cab-67e27c7d8759" providerId="AD" clId="Web-{FC308A30-E6C7-98D6-265A-9E5197D61690}" dt="2026-06-11T18:54:22.056" v="224" actId="20577"/>
          <ac:spMkLst>
            <pc:docMk/>
            <pc:sldMk cId="3385150610" sldId="292"/>
            <ac:spMk id="3" creationId="{98FB6DF9-CF05-0B93-D0AB-8AE311B5E093}"/>
          </ac:spMkLst>
        </pc:spChg>
      </pc:sldChg>
      <pc:sldChg chg="modSp add">
        <pc:chgData name="Bowden, Lacey (hunt3247@vandals.uidaho.edu)" userId="S::hunt3247@vandals.uidaho.edu::00e36877-4d68-474a-9cab-67e27c7d8759" providerId="AD" clId="Web-{FC308A30-E6C7-98D6-265A-9E5197D61690}" dt="2026-06-11T18:56:57.151" v="240" actId="20577"/>
        <pc:sldMkLst>
          <pc:docMk/>
          <pc:sldMk cId="2673873076" sldId="293"/>
        </pc:sldMkLst>
        <pc:spChg chg="mod">
          <ac:chgData name="Bowden, Lacey (hunt3247@vandals.uidaho.edu)" userId="S::hunt3247@vandals.uidaho.edu::00e36877-4d68-474a-9cab-67e27c7d8759" providerId="AD" clId="Web-{FC308A30-E6C7-98D6-265A-9E5197D61690}" dt="2026-06-11T18:56:57.151" v="240" actId="20577"/>
          <ac:spMkLst>
            <pc:docMk/>
            <pc:sldMk cId="2673873076" sldId="293"/>
            <ac:spMk id="3" creationId="{1E988959-2C62-EB6D-FA5C-61A6CE8DDC67}"/>
          </ac:spMkLst>
        </pc:spChg>
      </pc:sldChg>
      <pc:sldChg chg="add">
        <pc:chgData name="Bowden, Lacey (hunt3247@vandals.uidaho.edu)" userId="S::hunt3247@vandals.uidaho.edu::00e36877-4d68-474a-9cab-67e27c7d8759" providerId="AD" clId="Web-{FC308A30-E6C7-98D6-265A-9E5197D61690}" dt="2026-06-11T18:55:28.166" v="226"/>
        <pc:sldMkLst>
          <pc:docMk/>
          <pc:sldMk cId="1957175906" sldId="294"/>
        </pc:sldMkLst>
      </pc:sldChg>
      <pc:sldChg chg="add replId">
        <pc:chgData name="Bowden, Lacey (hunt3247@vandals.uidaho.edu)" userId="S::hunt3247@vandals.uidaho.edu::00e36877-4d68-474a-9cab-67e27c7d8759" providerId="AD" clId="Web-{FC308A30-E6C7-98D6-265A-9E5197D61690}" dt="2026-06-11T18:59:01.546" v="255"/>
        <pc:sldMkLst>
          <pc:docMk/>
          <pc:sldMk cId="1500254508" sldId="295"/>
        </pc:sldMkLst>
      </pc:sldChg>
    </pc:docChg>
  </pc:docChgLst>
  <pc:docChgLst>
    <pc:chgData name="Bowden, Lacey (hunt3247@vandals.uidaho.edu)" userId="S::hunt3247@vandals.uidaho.edu::00e36877-4d68-474a-9cab-67e27c7d8759" providerId="AD" clId="Web-{D42F6F38-1A2F-C09B-BF94-E269C332DA24}"/>
    <pc:docChg chg="delSld modSld">
      <pc:chgData name="Bowden, Lacey (hunt3247@vandals.uidaho.edu)" userId="S::hunt3247@vandals.uidaho.edu::00e36877-4d68-474a-9cab-67e27c7d8759" providerId="AD" clId="Web-{D42F6F38-1A2F-C09B-BF94-E269C332DA24}" dt="2026-06-09T19:08:59.937" v="23" actId="20577"/>
      <pc:docMkLst>
        <pc:docMk/>
      </pc:docMkLst>
      <pc:sldChg chg="modSp">
        <pc:chgData name="Bowden, Lacey (hunt3247@vandals.uidaho.edu)" userId="S::hunt3247@vandals.uidaho.edu::00e36877-4d68-474a-9cab-67e27c7d8759" providerId="AD" clId="Web-{D42F6F38-1A2F-C09B-BF94-E269C332DA24}" dt="2026-06-09T19:07:39.966" v="6" actId="20577"/>
        <pc:sldMkLst>
          <pc:docMk/>
          <pc:sldMk cId="1927978708" sldId="260"/>
        </pc:sldMkLst>
        <pc:spChg chg="mod">
          <ac:chgData name="Bowden, Lacey (hunt3247@vandals.uidaho.edu)" userId="S::hunt3247@vandals.uidaho.edu::00e36877-4d68-474a-9cab-67e27c7d8759" providerId="AD" clId="Web-{D42F6F38-1A2F-C09B-BF94-E269C332DA24}" dt="2026-06-09T19:07:39.966" v="6" actId="20577"/>
          <ac:spMkLst>
            <pc:docMk/>
            <pc:sldMk cId="1927978708" sldId="260"/>
            <ac:spMk id="2" creationId="{F444FAA0-F040-C3D1-983E-ABF1A6F3B499}"/>
          </ac:spMkLst>
        </pc:spChg>
        <pc:spChg chg="mod">
          <ac:chgData name="Bowden, Lacey (hunt3247@vandals.uidaho.edu)" userId="S::hunt3247@vandals.uidaho.edu::00e36877-4d68-474a-9cab-67e27c7d8759" providerId="AD" clId="Web-{D42F6F38-1A2F-C09B-BF94-E269C332DA24}" dt="2026-06-09T19:07:14.949" v="1" actId="20577"/>
          <ac:spMkLst>
            <pc:docMk/>
            <pc:sldMk cId="1927978708" sldId="260"/>
            <ac:spMk id="3" creationId="{D8B1615B-C5C6-BB1A-2EAB-16DB5E28AC3E}"/>
          </ac:spMkLst>
        </pc:spChg>
      </pc:sldChg>
      <pc:sldChg chg="modSp">
        <pc:chgData name="Bowden, Lacey (hunt3247@vandals.uidaho.edu)" userId="S::hunt3247@vandals.uidaho.edu::00e36877-4d68-474a-9cab-67e27c7d8759" providerId="AD" clId="Web-{D42F6F38-1A2F-C09B-BF94-E269C332DA24}" dt="2026-06-09T19:07:57.951" v="7" actId="20577"/>
        <pc:sldMkLst>
          <pc:docMk/>
          <pc:sldMk cId="1728119698" sldId="268"/>
        </pc:sldMkLst>
        <pc:spChg chg="mod">
          <ac:chgData name="Bowden, Lacey (hunt3247@vandals.uidaho.edu)" userId="S::hunt3247@vandals.uidaho.edu::00e36877-4d68-474a-9cab-67e27c7d8759" providerId="AD" clId="Web-{D42F6F38-1A2F-C09B-BF94-E269C332DA24}" dt="2026-06-09T19:07:57.951" v="7" actId="20577"/>
          <ac:spMkLst>
            <pc:docMk/>
            <pc:sldMk cId="1728119698" sldId="268"/>
            <ac:spMk id="3" creationId="{045DA08F-C881-3C31-6D00-23B00BF300D3}"/>
          </ac:spMkLst>
        </pc:spChg>
      </pc:sldChg>
      <pc:sldChg chg="modSp">
        <pc:chgData name="Bowden, Lacey (hunt3247@vandals.uidaho.edu)" userId="S::hunt3247@vandals.uidaho.edu::00e36877-4d68-474a-9cab-67e27c7d8759" providerId="AD" clId="Web-{D42F6F38-1A2F-C09B-BF94-E269C332DA24}" dt="2026-06-09T19:08:09.295" v="8" actId="20577"/>
        <pc:sldMkLst>
          <pc:docMk/>
          <pc:sldMk cId="3896449521" sldId="269"/>
        </pc:sldMkLst>
        <pc:spChg chg="mod">
          <ac:chgData name="Bowden, Lacey (hunt3247@vandals.uidaho.edu)" userId="S::hunt3247@vandals.uidaho.edu::00e36877-4d68-474a-9cab-67e27c7d8759" providerId="AD" clId="Web-{D42F6F38-1A2F-C09B-BF94-E269C332DA24}" dt="2026-06-09T19:08:09.295" v="8" actId="20577"/>
          <ac:spMkLst>
            <pc:docMk/>
            <pc:sldMk cId="3896449521" sldId="269"/>
            <ac:spMk id="3" creationId="{CD6E2A52-FBD6-3E79-8987-A5FD45412F35}"/>
          </ac:spMkLst>
        </pc:spChg>
      </pc:sldChg>
      <pc:sldChg chg="modSp">
        <pc:chgData name="Bowden, Lacey (hunt3247@vandals.uidaho.edu)" userId="S::hunt3247@vandals.uidaho.edu::00e36877-4d68-474a-9cab-67e27c7d8759" providerId="AD" clId="Web-{D42F6F38-1A2F-C09B-BF94-E269C332DA24}" dt="2026-06-09T19:08:24.561" v="19" actId="20577"/>
        <pc:sldMkLst>
          <pc:docMk/>
          <pc:sldMk cId="3594200089" sldId="271"/>
        </pc:sldMkLst>
        <pc:spChg chg="mod">
          <ac:chgData name="Bowden, Lacey (hunt3247@vandals.uidaho.edu)" userId="S::hunt3247@vandals.uidaho.edu::00e36877-4d68-474a-9cab-67e27c7d8759" providerId="AD" clId="Web-{D42F6F38-1A2F-C09B-BF94-E269C332DA24}" dt="2026-06-09T19:08:24.561" v="19" actId="20577"/>
          <ac:spMkLst>
            <pc:docMk/>
            <pc:sldMk cId="3594200089" sldId="271"/>
            <ac:spMk id="3" creationId="{BA201D4F-6957-B714-A8CC-BEE76B225578}"/>
          </ac:spMkLst>
        </pc:spChg>
      </pc:sldChg>
      <pc:sldChg chg="modSp">
        <pc:chgData name="Bowden, Lacey (hunt3247@vandals.uidaho.edu)" userId="S::hunt3247@vandals.uidaho.edu::00e36877-4d68-474a-9cab-67e27c7d8759" providerId="AD" clId="Web-{D42F6F38-1A2F-C09B-BF94-E269C332DA24}" dt="2026-06-09T19:08:53.249" v="20" actId="20577"/>
        <pc:sldMkLst>
          <pc:docMk/>
          <pc:sldMk cId="4294757015" sldId="273"/>
        </pc:sldMkLst>
        <pc:spChg chg="mod">
          <ac:chgData name="Bowden, Lacey (hunt3247@vandals.uidaho.edu)" userId="S::hunt3247@vandals.uidaho.edu::00e36877-4d68-474a-9cab-67e27c7d8759" providerId="AD" clId="Web-{D42F6F38-1A2F-C09B-BF94-E269C332DA24}" dt="2026-06-09T19:08:53.249" v="20" actId="20577"/>
          <ac:spMkLst>
            <pc:docMk/>
            <pc:sldMk cId="4294757015" sldId="273"/>
            <ac:spMk id="3" creationId="{FABD13C3-DBD4-6A4C-7859-0311C692D60A}"/>
          </ac:spMkLst>
        </pc:spChg>
      </pc:sldChg>
      <pc:sldChg chg="modSp">
        <pc:chgData name="Bowden, Lacey (hunt3247@vandals.uidaho.edu)" userId="S::hunt3247@vandals.uidaho.edu::00e36877-4d68-474a-9cab-67e27c7d8759" providerId="AD" clId="Web-{D42F6F38-1A2F-C09B-BF94-E269C332DA24}" dt="2026-06-09T19:08:59.937" v="23" actId="20577"/>
        <pc:sldMkLst>
          <pc:docMk/>
          <pc:sldMk cId="4109479491" sldId="275"/>
        </pc:sldMkLst>
        <pc:spChg chg="mod">
          <ac:chgData name="Bowden, Lacey (hunt3247@vandals.uidaho.edu)" userId="S::hunt3247@vandals.uidaho.edu::00e36877-4d68-474a-9cab-67e27c7d8759" providerId="AD" clId="Web-{D42F6F38-1A2F-C09B-BF94-E269C332DA24}" dt="2026-06-09T19:08:59.937" v="23" actId="20577"/>
          <ac:spMkLst>
            <pc:docMk/>
            <pc:sldMk cId="4109479491" sldId="275"/>
            <ac:spMk id="3" creationId="{D0DED65F-1256-574A-50DD-0C0DDEA0CBC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ngall.com/pin-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https://vandalsuidaho-my.sharepoint.com/:v:/g/personal/hunt3247_vandals_uidaho_edu/IQDJFWyERtr6SbqPKyhopa_QAaPKRVjlSttaVOjG8AnmBHU?nav=eyJyZWZlcnJhbEluZm8iOnsicmVmZXJyYWxBcHAiOiJPbmVEcml2ZUZvckJ1c2luZXNzIiwicmVmZXJyYWxBcHBQbGF0Zm9ybSI6IldlYiIsInJlZmVycmFsTW9kZSI6InZpZXciLCJyZWZlcnJhbFZpZXciOiJNeUZpbGVzTGlua0NvcHkifX0&amp;e=bdm87t" TargetMode="External"/><Relationship Id="rId1" Type="http://schemas.openxmlformats.org/officeDocument/2006/relationships/video" Target="https://vandalsuidaho-my.sharepoint.com/:v:/g/personal/hunt3247_vandals_uidaho_edu/IQDrlGvyJTHJQo-DmQRQWuLZAYuxReW1yBKxJVcBXM62o-c?nav=eyJyZWZlcnJhbEluZm8iOnsicmVmZXJyYWxBcHAiOiJPbmVEcml2ZUZvckJ1c2luZXNzIiwicmVmZXJyYWxBcHBQbGF0Zm9ybSI6IldlYiIsInJlZmVycmFsTW9kZSI6InZpZXciLCJyZWZlcnJhbFZpZXciOiJNeUZpbGVzTGlua0NvcHkifX0&amp;e=Rqbzti" TargetMode="Externa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jvQdFe8FPCw?feature=oembed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vandalsuidaho-my.sharepoint.com/:v:/g/personal/hunt3247_vandals_uidaho_edu/IQBwaWMJv4uHT4F0Ms-SjmcgAZODhq5k9A1g35RewUI_SQM?nav=eyJyZWZlcnJhbEluZm8iOnsicmVmZXJyYWxBcHAiOiJPbmVEcml2ZUZvckJ1c2luZXNzIiwicmVmZXJyYWxBcHBQbGF0Zm9ybSI6IldlYiIsInJlZmVycmFsTW9kZSI6InZpZXciLCJyZWZlcnJhbFZpZXciOiJNeUZpbGVzTGlua0NvcHkifX0&amp;e=Yj4r6U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vandalsuidaho-my.sharepoint.com/:v:/g/personal/hunt3247_vandals_uidaho_edu/IQAJT8WrnyS8TK7SJee6fIYMAZ4Or2J53ZWXx2Z2NOSOReQ?nav=eyJyZWZlcnJhbEluZm8iOnsicmVmZXJyYWxBcHAiOiJPbmVEcml2ZUZvckJ1c2luZXNzIiwicmVmZXJyYWxBcHBQbGF0Zm9ybSI6IldlYiIsInJlZmVycmFsTW9kZSI6InZpZXciLCJyZWZlcnJhbFZpZXciOiJNeUZpbGVzTGlua0NvcHkifX0&amp;e=5kA6SH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vandalsuidaho-my.sharepoint.com/:v:/g/personal/hunt3247_vandals_uidaho_edu/IQDObSwaTgvcT63u5-VKfXLkARaNzBOUERNuxmBJscGmrQM?nav=eyJyZWZlcnJhbEluZm8iOnsicmVmZXJyYWxBcHAiOiJPbmVEcml2ZUZvckJ1c2luZXNzIiwicmVmZXJyYWxBcHBQbGF0Zm9ybSI6IldlYiIsInJlZmVycmFsTW9kZSI6InZpZXciLCJyZWZlcnJhbFZpZXciOiJNeUZpbGVzTGlua0NvcHkifX0&amp;e=bfRNwP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vandalsuidaho-my.sharepoint.com/:v:/g/personal/hunt3247_vandals_uidaho_edu/IQAdQIrr40jnRp_PSnktXdJjAZEMrkZ8xmgEIpc4Et1hgP0?nav=eyJyZWZlcnJhbEluZm8iOnsicmVmZXJyYWxBcHAiOiJPbmVEcml2ZUZvckJ1c2luZXNzIiwicmVmZXJyYWxBcHBQbGF0Zm9ybSI6IldlYiIsInJlZmVycmFsTW9kZSI6InZpZXciLCJyZWZlcnJhbFZpZXciOiJNeUZpbGVzTGlua0NvcHkifX0&amp;e=Wmd4LN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Robots Intro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Robotics Bootcamp 2026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048BB-E536-694A-B963-70299E3B6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Instructor Background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21A2E-D3AA-5296-090E-413A066AD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/>
              <a:t>Lacey Bowden</a:t>
            </a:r>
          </a:p>
          <a:p>
            <a:r>
              <a:rPr lang="en-US"/>
              <a:t>CS Masters Student</a:t>
            </a:r>
            <a:endParaRPr lang="en-US" sz="24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Masters Topic: Industrial Robotics</a:t>
            </a:r>
          </a:p>
          <a:p>
            <a:r>
              <a:rPr lang="en-US"/>
              <a:t>NIC Fellow</a:t>
            </a:r>
            <a:endParaRPr lang="en-US" sz="2400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/>
              <a:t>Kevin Wing</a:t>
            </a:r>
            <a:endParaRPr lang="en-US"/>
          </a:p>
          <a:p>
            <a:r>
              <a:rPr lang="en-US"/>
              <a:t>CS PhD Student</a:t>
            </a:r>
            <a:endParaRPr lang="en-US" sz="24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Masters Topic: Agriculture IoT Device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PhD Topic: Genetic Algorithms/Optimization with AI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77547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7340B72-341B-A7D1-5B83-7E96614E3657}"/>
              </a:ext>
            </a:extLst>
          </p:cNvPr>
          <p:cNvSpPr/>
          <p:nvPr/>
        </p:nvSpPr>
        <p:spPr>
          <a:xfrm>
            <a:off x="2018804" y="4172030"/>
            <a:ext cx="7243948" cy="208972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683916-F293-8396-B16F-890B5B47B1C6}"/>
              </a:ext>
            </a:extLst>
          </p:cNvPr>
          <p:cNvSpPr/>
          <p:nvPr/>
        </p:nvSpPr>
        <p:spPr>
          <a:xfrm>
            <a:off x="2018805" y="1514103"/>
            <a:ext cx="7243948" cy="26521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7476C3-C4C8-EFCE-B402-B84978456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 of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42968-6CF6-E202-29AA-FB4963A18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2840" y="1695723"/>
            <a:ext cx="7366000" cy="49500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Introduction to Robots and robot types</a:t>
            </a:r>
          </a:p>
          <a:p>
            <a:r>
              <a:rPr lang="en-US"/>
              <a:t>Meet our robots</a:t>
            </a:r>
          </a:p>
          <a:p>
            <a:r>
              <a:rPr lang="en-US"/>
              <a:t>Lab safety</a:t>
            </a:r>
            <a:endParaRPr lang="en-US" dirty="0"/>
          </a:p>
          <a:p>
            <a:r>
              <a:rPr lang="en-US"/>
              <a:t>Install/go over Python drivers</a:t>
            </a:r>
          </a:p>
          <a:p>
            <a:r>
              <a:rPr lang="en-US" b="1"/>
              <a:t>LUNCH</a:t>
            </a:r>
            <a:endParaRPr lang="en-US" b="1" dirty="0"/>
          </a:p>
          <a:p>
            <a:r>
              <a:rPr lang="en-US"/>
              <a:t>Brief Lab Tour</a:t>
            </a:r>
            <a:endParaRPr lang="en-US" dirty="0"/>
          </a:p>
          <a:p>
            <a:r>
              <a:rPr lang="en-US"/>
              <a:t>Teaching Pendant Lab</a:t>
            </a:r>
          </a:p>
          <a:p>
            <a:r>
              <a:rPr lang="en-US"/>
              <a:t>Python Lab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If extra time: switch robots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748945-B914-B304-88DB-661C414FE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1942374" y="1281974"/>
            <a:ext cx="726440" cy="7772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C97902-AC79-4B5A-D2F3-3CC297DAAF23}"/>
              </a:ext>
            </a:extLst>
          </p:cNvPr>
          <p:cNvSpPr txBox="1"/>
          <p:nvPr/>
        </p:nvSpPr>
        <p:spPr>
          <a:xfrm>
            <a:off x="588554" y="1508034"/>
            <a:ext cx="14325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We are here.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5648E3-A01F-491F-9FB4-5FC04A88F29C}"/>
              </a:ext>
            </a:extLst>
          </p:cNvPr>
          <p:cNvSpPr txBox="1"/>
          <p:nvPr/>
        </p:nvSpPr>
        <p:spPr>
          <a:xfrm rot="5400000">
            <a:off x="7042728" y="3988543"/>
            <a:ext cx="38512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Upstairs                               Downstairs</a:t>
            </a:r>
          </a:p>
        </p:txBody>
      </p:sp>
    </p:spTree>
    <p:extLst>
      <p:ext uri="{BB962C8B-B14F-4D97-AF65-F5344CB8AC3E}">
        <p14:creationId xmlns:p14="http://schemas.microsoft.com/office/powerpoint/2010/main" val="601425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8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02E32-E2D2-38FC-96A9-E05F85D1C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robot?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B6DF9-CF05-0B93-D0AB-8AE311B5E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/>
              <a:t>At the highest level: a </a:t>
            </a:r>
            <a:r>
              <a:rPr lang="en-US" b="1"/>
              <a:t>computer </a:t>
            </a:r>
            <a:r>
              <a:rPr lang="en-US"/>
              <a:t>and an </a:t>
            </a:r>
            <a:r>
              <a:rPr lang="en-US" b="1"/>
              <a:t>actuator</a:t>
            </a:r>
            <a:r>
              <a:rPr lang="en-US"/>
              <a:t>.</a:t>
            </a:r>
          </a:p>
          <a:p>
            <a:pPr>
              <a:buFont typeface="Arial"/>
              <a:buChar char="•"/>
            </a:pPr>
            <a:endParaRPr lang="en-US" dirty="0"/>
          </a:p>
          <a:p>
            <a:pPr>
              <a:buFont typeface="Arial"/>
              <a:buChar char="•"/>
            </a:pPr>
            <a:r>
              <a:rPr lang="en-US"/>
              <a:t>A </a:t>
            </a:r>
            <a:r>
              <a:rPr lang="en-US" b="1"/>
              <a:t>computer </a:t>
            </a:r>
            <a:r>
              <a:rPr lang="en-US"/>
              <a:t>accepts raw data as input, processes it using stored instructions (software), stores the results, and produces output.</a:t>
            </a:r>
          </a:p>
          <a:p>
            <a:pPr>
              <a:buFont typeface="Arial"/>
              <a:buChar char="•"/>
            </a:pPr>
            <a:r>
              <a:rPr lang="en-US"/>
              <a:t>An </a:t>
            </a:r>
            <a:r>
              <a:rPr lang="en-US" b="1"/>
              <a:t>actuator</a:t>
            </a:r>
            <a:r>
              <a:rPr lang="en-US"/>
              <a:t> converts energy—typically electric, hydraulic, or pneumatic—into mechanical motion to move or control something.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150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19AD7-D195-2803-FA3B-DA489D253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other words...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88959-2C62-EB6D-FA5C-61A6CE8DD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computer performs operations, the actuator interacts with the world somehow.</a:t>
            </a:r>
          </a:p>
          <a:p>
            <a:r>
              <a:rPr lang="en-US"/>
              <a:t>Look at this washing machine...</a:t>
            </a:r>
            <a:endParaRPr lang="en-US" dirty="0"/>
          </a:p>
        </p:txBody>
      </p:sp>
      <p:pic>
        <p:nvPicPr>
          <p:cNvPr id="7" name="Picture 6" descr="a close up of a washing machine with water inside">
            <a:extLst>
              <a:ext uri="{FF2B5EF4-FFF2-40B4-BE49-F238E27FC236}">
                <a16:creationId xmlns:a16="http://schemas.microsoft.com/office/drawing/2014/main" id="{70501E5E-07F4-14B3-F1A4-24CF9CC84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46" y="2357120"/>
            <a:ext cx="2688789" cy="405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873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50A5F-CDA2-1DE5-4901-DE62D8522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440" y="-635"/>
            <a:ext cx="10515600" cy="1325563"/>
          </a:xfrm>
        </p:spPr>
        <p:txBody>
          <a:bodyPr/>
          <a:lstStyle/>
          <a:p>
            <a:r>
              <a:rPr lang="en-US"/>
              <a:t>Some more examples</a:t>
            </a:r>
          </a:p>
        </p:txBody>
      </p:sp>
      <p:pic>
        <p:nvPicPr>
          <p:cNvPr id="4" name="Content Placeholder 3" descr="A toaster with two pieces of bread sticking out of it">
            <a:extLst>
              <a:ext uri="{FF2B5EF4-FFF2-40B4-BE49-F238E27FC236}">
                <a16:creationId xmlns:a16="http://schemas.microsoft.com/office/drawing/2014/main" id="{EEB5B982-3786-208C-22D3-A9D84A44CB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56108" y="216518"/>
            <a:ext cx="1922215" cy="2946224"/>
          </a:xfrm>
          <a:prstGeom prst="rect">
            <a:avLst/>
          </a:prstGeom>
        </p:spPr>
      </p:pic>
      <p:pic>
        <p:nvPicPr>
          <p:cNvPr id="5" name="Picture 4" descr="a robotic arm is connected to a computer mouse">
            <a:extLst>
              <a:ext uri="{FF2B5EF4-FFF2-40B4-BE49-F238E27FC236}">
                <a16:creationId xmlns:a16="http://schemas.microsoft.com/office/drawing/2014/main" id="{906F0FD7-045D-2187-D7B3-C8E4E8632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510" y="3423920"/>
            <a:ext cx="4564899" cy="2875280"/>
          </a:xfrm>
          <a:prstGeom prst="rect">
            <a:avLst/>
          </a:prstGeom>
        </p:spPr>
      </p:pic>
      <p:pic>
        <p:nvPicPr>
          <p:cNvPr id="7" name="Picture 6" descr="Robot vacuum cleaner on wood,laminate floor.Smart life concepts Robot vacuum cleaner on wood,laminate floor.Smart life concepts ideas Robotic Vacuum Cleaner Stock Photo">
            <a:extLst>
              <a:ext uri="{FF2B5EF4-FFF2-40B4-BE49-F238E27FC236}">
                <a16:creationId xmlns:a16="http://schemas.microsoft.com/office/drawing/2014/main" id="{90F74E4F-14EE-DAA3-1879-B1B22B17D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640" y="558800"/>
            <a:ext cx="3708400" cy="2468880"/>
          </a:xfrm>
          <a:prstGeom prst="rect">
            <a:avLst/>
          </a:prstGeom>
        </p:spPr>
      </p:pic>
      <p:pic>
        <p:nvPicPr>
          <p:cNvPr id="8" name="Picture 7" descr="3D printer with a printed object on the table. 3D printer with a printed object on the table. The interior of a home workshop. Wall with tools in the background. Colorful backlight 3D Printing Stock Photo">
            <a:extLst>
              <a:ext uri="{FF2B5EF4-FFF2-40B4-BE49-F238E27FC236}">
                <a16:creationId xmlns:a16="http://schemas.microsoft.com/office/drawing/2014/main" id="{D7D767E6-0131-C07A-ABF8-0129DC3157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00" y="923925"/>
            <a:ext cx="3525520" cy="2368550"/>
          </a:xfrm>
          <a:prstGeom prst="rect">
            <a:avLst/>
          </a:prstGeom>
        </p:spPr>
      </p:pic>
      <p:pic>
        <p:nvPicPr>
          <p:cNvPr id="9" name="Picture 8" descr="A silver espresso machine on a marble counter&#10;&#10;AI-generated content may be incorrect.">
            <a:extLst>
              <a:ext uri="{FF2B5EF4-FFF2-40B4-BE49-F238E27FC236}">
                <a16:creationId xmlns:a16="http://schemas.microsoft.com/office/drawing/2014/main" id="{DF40E239-3F12-D9CC-E4E5-916F30BA3C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5147" y="3525520"/>
            <a:ext cx="3119120" cy="3098800"/>
          </a:xfrm>
          <a:prstGeom prst="rect">
            <a:avLst/>
          </a:prstGeom>
        </p:spPr>
      </p:pic>
      <p:pic>
        <p:nvPicPr>
          <p:cNvPr id="10" name="Picture 9" descr="Glazed door Modern glazed door Door Stock Photo">
            <a:extLst>
              <a:ext uri="{FF2B5EF4-FFF2-40B4-BE49-F238E27FC236}">
                <a16:creationId xmlns:a16="http://schemas.microsoft.com/office/drawing/2014/main" id="{2B355905-5588-AE5A-57ED-6D10D02355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423920"/>
            <a:ext cx="2844800" cy="287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175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4FAA0-F040-C3D1-983E-ABF1A6F3B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 robot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1615B-C5C6-BB1A-2EAB-16DB5E28A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There are many types of robots. Today, we are going to look at and </a:t>
            </a:r>
            <a:r>
              <a:rPr lang="en-US"/>
              <a:t>discuss these five types: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/>
              <a:t>Humanoid Robots</a:t>
            </a:r>
          </a:p>
          <a:p>
            <a:pPr marL="514350" indent="-514350">
              <a:buAutoNum type="arabicPeriod"/>
            </a:pPr>
            <a:r>
              <a:rPr lang="en-US"/>
              <a:t>Gantry Robots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SCARA </a:t>
            </a:r>
            <a:r>
              <a:rPr lang="en-US"/>
              <a:t>Robots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/>
              <a:t>Articulated Robots</a:t>
            </a:r>
          </a:p>
          <a:p>
            <a:pPr marL="514350" indent="-514350">
              <a:buAutoNum type="arabicPeriod"/>
            </a:pPr>
            <a:r>
              <a:rPr lang="en-US"/>
              <a:t>Cobots</a:t>
            </a:r>
          </a:p>
        </p:txBody>
      </p:sp>
    </p:spTree>
    <p:extLst>
      <p:ext uri="{BB962C8B-B14F-4D97-AF65-F5344CB8AC3E}">
        <p14:creationId xmlns:p14="http://schemas.microsoft.com/office/powerpoint/2010/main" val="1927978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F25A7-9AC2-EA30-8A93-E16762C09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Humanoid Robots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1B6EC-AF27-3D47-9891-B431E5561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70105" cy="46693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This is often what people picture...</a:t>
            </a:r>
          </a:p>
          <a:p>
            <a:r>
              <a:rPr lang="en-US"/>
              <a:t>These robots are designed to reflect humans 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Bipedal (two feet)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Sensing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Vision</a:t>
            </a:r>
          </a:p>
          <a:p>
            <a:r>
              <a:rPr lang="en-US"/>
              <a:t>In theory, these are great (because humans are great)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We are low-power, high-efficiency </a:t>
            </a:r>
            <a:endParaRPr lang="en-US" dirty="0"/>
          </a:p>
        </p:txBody>
      </p:sp>
      <p:pic>
        <p:nvPicPr>
          <p:cNvPr id="4" name="Picture 3" descr="G1 EDU Ultimate C: Flagship Humanoid Robot for Advanced Applications –  RoboStore">
            <a:extLst>
              <a:ext uri="{FF2B5EF4-FFF2-40B4-BE49-F238E27FC236}">
                <a16:creationId xmlns:a16="http://schemas.microsoft.com/office/drawing/2014/main" id="{B46B1616-EAD3-5DE1-FDAE-3D21830E8D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04" r="25435" b="-132"/>
          <a:stretch>
            <a:fillRect/>
          </a:stretch>
        </p:blipFill>
        <p:spPr>
          <a:xfrm>
            <a:off x="8219661" y="960783"/>
            <a:ext cx="2377635" cy="50150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5B2A52-B360-0F82-4037-230BA01C57E5}"/>
              </a:ext>
            </a:extLst>
          </p:cNvPr>
          <p:cNvSpPr txBox="1"/>
          <p:nvPr/>
        </p:nvSpPr>
        <p:spPr>
          <a:xfrm>
            <a:off x="7376457" y="6088968"/>
            <a:ext cx="447869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 dirty="0">
                <a:ea typeface="+mn-lt"/>
                <a:cs typeface="+mn-lt"/>
              </a:rPr>
              <a:t>https://robostore.com/cdn/shop/files/unitree-g1-edu-ultimate-a-robotic-humanoid-u3-8215619.jpg?v=1759440110&amp;width=2000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21958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B2DEF-EE34-A821-7304-6980343B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4C1ED-FC94-8E40-2AC1-8071A31E5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Humanoid Robots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6A4CE-AD05-B289-1BD9-163B84143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34471" cy="10051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Similar to this is the </a:t>
            </a:r>
            <a:r>
              <a:rPr lang="en-US"/>
              <a:t>quadruped (four-legged) robot dog</a:t>
            </a:r>
            <a:endParaRPr lang="en-US" dirty="0"/>
          </a:p>
        </p:txBody>
      </p:sp>
      <p:pic>
        <p:nvPicPr>
          <p:cNvPr id="5" name="Online Media 4" title="Dog2.MOV">
            <a:hlinkClick r:id="" action="ppaction://noaction"/>
            <a:extLst>
              <a:ext uri="{FF2B5EF4-FFF2-40B4-BE49-F238E27FC236}">
                <a16:creationId xmlns:a16="http://schemas.microsoft.com/office/drawing/2014/main" id="{40123B0F-FFE6-5512-C6E0-1FA3A7EA5E0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8005141" y="1176131"/>
            <a:ext cx="3086100" cy="5486400"/>
          </a:xfrm>
          <a:prstGeom prst="rect">
            <a:avLst/>
          </a:prstGeom>
        </p:spPr>
      </p:pic>
      <p:pic>
        <p:nvPicPr>
          <p:cNvPr id="6" name="Online Media 5" title="Dog.MOV">
            <a:hlinkClick r:id="" action="ppaction://noaction"/>
            <a:extLst>
              <a:ext uri="{FF2B5EF4-FFF2-40B4-BE49-F238E27FC236}">
                <a16:creationId xmlns:a16="http://schemas.microsoft.com/office/drawing/2014/main" id="{120E00AF-4067-9F4E-F78D-E2CC87A53D96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tretch>
            <a:fillRect/>
          </a:stretch>
        </p:blipFill>
        <p:spPr>
          <a:xfrm>
            <a:off x="3287367" y="2229678"/>
            <a:ext cx="2542761" cy="451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348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73E0F-80C0-EEBD-6E26-2A42FB989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4D05E-0829-DF6B-5922-600C30B57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Humanoid Robots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14122-8A44-D120-DEE4-402CFA090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70105" cy="10449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What are some </a:t>
            </a:r>
            <a:r>
              <a:rPr lang="en-US"/>
              <a:t>limitations of this type of robot?</a:t>
            </a:r>
            <a:endParaRPr lang="en-US" dirty="0"/>
          </a:p>
        </p:txBody>
      </p:sp>
      <p:pic>
        <p:nvPicPr>
          <p:cNvPr id="4" name="Picture 3" descr="G1 EDU Ultimate C: Flagship Humanoid Robot for Advanced Applications –  RoboStore">
            <a:extLst>
              <a:ext uri="{FF2B5EF4-FFF2-40B4-BE49-F238E27FC236}">
                <a16:creationId xmlns:a16="http://schemas.microsoft.com/office/drawing/2014/main" id="{3F314C1E-43F7-0F43-6B6C-B965014681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04" r="25435" b="-132"/>
          <a:stretch>
            <a:fillRect/>
          </a:stretch>
        </p:blipFill>
        <p:spPr>
          <a:xfrm>
            <a:off x="8219661" y="960783"/>
            <a:ext cx="2377635" cy="50150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89E11E-77E0-EBA5-222A-3D89DA1BDAB0}"/>
              </a:ext>
            </a:extLst>
          </p:cNvPr>
          <p:cNvSpPr txBox="1"/>
          <p:nvPr/>
        </p:nvSpPr>
        <p:spPr>
          <a:xfrm>
            <a:off x="7376457" y="6088968"/>
            <a:ext cx="447869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 dirty="0">
                <a:ea typeface="+mn-lt"/>
                <a:cs typeface="+mn-lt"/>
              </a:rPr>
              <a:t>https://robostore.com/cdn/shop/files/unitree-g1-edu-ultimate-a-robotic-humanoid-u3-8215619.jpg?v=1759440110&amp;width=2000</a:t>
            </a:r>
            <a:endParaRPr lang="en-US" sz="10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52135B6-4476-4B50-431C-FC0178E8ED80}"/>
              </a:ext>
            </a:extLst>
          </p:cNvPr>
          <p:cNvSpPr txBox="1">
            <a:spLocks/>
          </p:cNvSpPr>
          <p:nvPr/>
        </p:nvSpPr>
        <p:spPr>
          <a:xfrm>
            <a:off x="838200" y="2945434"/>
            <a:ext cx="5970105" cy="30327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Sensory input requirements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Power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Balance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Battery Life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Etc...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433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B156D-60F3-C063-00B1-BDFFE5236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65AF6-66AE-B7D2-8E83-D3523D7BF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Humanoid Robots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CBB64-6970-B06F-3B87-40A9EE046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70105" cy="10449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What are some </a:t>
            </a:r>
            <a:r>
              <a:rPr lang="en-US"/>
              <a:t>limitations of this type of robot?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C85A422-4FA4-7420-95E2-679A247B8C17}"/>
              </a:ext>
            </a:extLst>
          </p:cNvPr>
          <p:cNvSpPr txBox="1">
            <a:spLocks/>
          </p:cNvSpPr>
          <p:nvPr/>
        </p:nvSpPr>
        <p:spPr>
          <a:xfrm>
            <a:off x="838200" y="2945434"/>
            <a:ext cx="5970105" cy="30327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Sensory input requirements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Power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Balance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Battery Life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Etc...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347786-5DA6-E2C7-F054-D1989D6ACBA5}"/>
              </a:ext>
            </a:extLst>
          </p:cNvPr>
          <p:cNvSpPr txBox="1"/>
          <p:nvPr/>
        </p:nvSpPr>
        <p:spPr>
          <a:xfrm>
            <a:off x="6740353" y="6334133"/>
            <a:ext cx="4478693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 dirty="0">
                <a:ea typeface="+mn-lt"/>
                <a:cs typeface="+mn-lt"/>
              </a:rPr>
              <a:t>https://www.youtube.com/shorts/jvQdFe8FPCw</a:t>
            </a:r>
            <a:endParaRPr lang="en-US" dirty="0"/>
          </a:p>
        </p:txBody>
      </p:sp>
      <p:pic>
        <p:nvPicPr>
          <p:cNvPr id="10" name="Online Media 8" title="Robot Fails Compilation #robotfail #robots #humanoidrobot">
            <a:hlinkClick r:id="" action="ppaction://noaction"/>
            <a:extLst>
              <a:ext uri="{FF2B5EF4-FFF2-40B4-BE49-F238E27FC236}">
                <a16:creationId xmlns:a16="http://schemas.microsoft.com/office/drawing/2014/main" id="{901ED459-9C18-774F-7292-C3EDB16DBA9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868354" y="281748"/>
            <a:ext cx="3398353" cy="598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746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4C042-D87C-52BE-1494-9E77EB78C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0E316-69E1-9982-B82C-BA21DFA01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DA08F-C881-3C31-6D00-23B00BF30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There are many other types of robots. Today, we are going to look at </a:t>
            </a:r>
            <a:r>
              <a:rPr lang="en-US"/>
              <a:t>and discuss these five types: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>
                <a:solidFill>
                  <a:schemeClr val="bg1">
                    <a:lumMod val="76000"/>
                  </a:schemeClr>
                </a:solidFill>
              </a:rPr>
              <a:t>Humanoid Robots</a:t>
            </a:r>
          </a:p>
          <a:p>
            <a:pPr marL="514350" indent="-514350">
              <a:buAutoNum type="arabicPeriod"/>
            </a:pPr>
            <a:r>
              <a:rPr lang="en-US"/>
              <a:t>Gantry Robots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SCARA </a:t>
            </a:r>
            <a:r>
              <a:rPr lang="en-US"/>
              <a:t>Robots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/>
              <a:t>Articulated Robots</a:t>
            </a:r>
          </a:p>
          <a:p>
            <a:pPr marL="514350" indent="-514350">
              <a:buAutoNum type="arabicPeriod"/>
            </a:pPr>
            <a:r>
              <a:rPr lang="en-US"/>
              <a:t>Cobots</a:t>
            </a:r>
          </a:p>
        </p:txBody>
      </p:sp>
    </p:spTree>
    <p:extLst>
      <p:ext uri="{BB962C8B-B14F-4D97-AF65-F5344CB8AC3E}">
        <p14:creationId xmlns:p14="http://schemas.microsoft.com/office/powerpoint/2010/main" val="1728119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antry Systems: Working Outside the Envelope - Macron Dynamics">
            <a:extLst>
              <a:ext uri="{FF2B5EF4-FFF2-40B4-BE49-F238E27FC236}">
                <a16:creationId xmlns:a16="http://schemas.microsoft.com/office/drawing/2014/main" id="{6280FB23-4CCC-E229-FAE8-3B4624B07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62" y="1176401"/>
            <a:ext cx="6910524" cy="39421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45168B-E3DA-359E-7E79-9AD75DA0C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Gantry Robots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A0488-50E3-F31A-0148-A96603135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843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Gantry Robots (or Cartesian Robots)</a:t>
            </a:r>
          </a:p>
          <a:p>
            <a:r>
              <a:rPr lang="en-US"/>
              <a:t>Move along a 3-axis linear coordinate system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X, Y, and Z</a:t>
            </a:r>
          </a:p>
          <a:p>
            <a:r>
              <a:rPr lang="en-US"/>
              <a:t>Example: Computer Numeric-Controlled (CNC) machines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C5C74A-0839-92F2-4FE6-2626CDCC798F}"/>
              </a:ext>
            </a:extLst>
          </p:cNvPr>
          <p:cNvSpPr txBox="1"/>
          <p:nvPr/>
        </p:nvSpPr>
        <p:spPr>
          <a:xfrm>
            <a:off x="5244413" y="5114866"/>
            <a:ext cx="691073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 dirty="0">
                <a:ea typeface="+mn-lt"/>
                <a:cs typeface="+mn-lt"/>
              </a:rPr>
              <a:t>https://www.macrondynamics.com/wp-content/uploads/2023/03/Gantry-Systems-Working-Outside-and-Envelope.jpg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95201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0FB86-7885-1640-A064-F2AC16EAE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0806F-47FE-2F4F-3FDD-3AD451371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Gantry Robots</a:t>
            </a:r>
          </a:p>
        </p:txBody>
      </p:sp>
      <p:pic>
        <p:nvPicPr>
          <p:cNvPr id="9" name="Online Media 8" title="Makera.MOV">
            <a:hlinkClick r:id="" action="ppaction://noaction"/>
            <a:extLst>
              <a:ext uri="{FF2B5EF4-FFF2-40B4-BE49-F238E27FC236}">
                <a16:creationId xmlns:a16="http://schemas.microsoft.com/office/drawing/2014/main" id="{B05CA54C-337D-C079-83EA-810BF6BDD93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544417" y="2600739"/>
            <a:ext cx="7321827" cy="4121427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2E6997A-7CB6-7F31-2C0A-744ECDCE5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732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Great for subtractive (milling) or additive (3D printing) manufacturing</a:t>
            </a:r>
          </a:p>
        </p:txBody>
      </p:sp>
    </p:spTree>
    <p:extLst>
      <p:ext uri="{BB962C8B-B14F-4D97-AF65-F5344CB8AC3E}">
        <p14:creationId xmlns:p14="http://schemas.microsoft.com/office/powerpoint/2010/main" val="1626606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FB905-3905-6C2E-6692-F96C399FC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B2180-1913-2CC7-82A6-D2D381518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Gantry Robots</a:t>
            </a:r>
          </a:p>
        </p:txBody>
      </p:sp>
      <p:pic>
        <p:nvPicPr>
          <p:cNvPr id="8" name="Online Media 7" title="FarmBot.MOV">
            <a:hlinkClick r:id="" action="ppaction://noaction"/>
            <a:extLst>
              <a:ext uri="{FF2B5EF4-FFF2-40B4-BE49-F238E27FC236}">
                <a16:creationId xmlns:a16="http://schemas.microsoft.com/office/drawing/2014/main" id="{90CBFF36-14B5-2407-981B-E4D2B8B6E048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003563" y="1971399"/>
            <a:ext cx="8184873" cy="4603129"/>
          </a:xfrm>
          <a:prstGeom prst="rect">
            <a:avLst/>
          </a:prstGeom>
        </p:spPr>
      </p:pic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3E4761A-3F94-0F8E-97D8-08F1D51D33EE}"/>
              </a:ext>
            </a:extLst>
          </p:cNvPr>
          <p:cNvSpPr txBox="1">
            <a:spLocks/>
          </p:cNvSpPr>
          <p:nvPr/>
        </p:nvSpPr>
        <p:spPr>
          <a:xfrm>
            <a:off x="838200" y="154732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Also for traversing and monitoring some plane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769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F4E67-00A4-7DE9-4BDF-1ADB032B6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antry Systems: Working Outside the Envelope - Macron Dynamics">
            <a:extLst>
              <a:ext uri="{FF2B5EF4-FFF2-40B4-BE49-F238E27FC236}">
                <a16:creationId xmlns:a16="http://schemas.microsoft.com/office/drawing/2014/main" id="{759E5593-7E6A-A51C-9DB8-2558DB824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62" y="1176401"/>
            <a:ext cx="6910524" cy="39421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C2BE57-F35C-9AC4-E1D6-B5B68F916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Gantry Robots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835E2-FD7C-58D4-E1E4-BBA09A86B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843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What are some limitations of this type of robot?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47B719-F1C1-CCEF-D330-96397194FB9A}"/>
              </a:ext>
            </a:extLst>
          </p:cNvPr>
          <p:cNvSpPr txBox="1"/>
          <p:nvPr/>
        </p:nvSpPr>
        <p:spPr>
          <a:xfrm>
            <a:off x="5244413" y="5114866"/>
            <a:ext cx="691073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 dirty="0">
                <a:ea typeface="+mn-lt"/>
                <a:cs typeface="+mn-lt"/>
              </a:rPr>
              <a:t>https://www.macrondynamics.com/wp-content/uploads/2023/03/Gantry-Systems-Working-Outside-and-Envelope.jpg</a:t>
            </a:r>
            <a:endParaRPr lang="en-US" sz="10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96BA5CD-2538-9B5B-6E0B-9DD057787148}"/>
              </a:ext>
            </a:extLst>
          </p:cNvPr>
          <p:cNvSpPr txBox="1">
            <a:spLocks/>
          </p:cNvSpPr>
          <p:nvPr/>
        </p:nvSpPr>
        <p:spPr>
          <a:xfrm>
            <a:off x="838200" y="2945434"/>
            <a:ext cx="5970105" cy="30327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Curved surfaces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Limited by end of arm tool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Large footprint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Etc...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49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B8E86-1D1D-3533-6032-4CADA3BDF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CB513-73B8-639A-251D-1E634EF1B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E2A52-FBD6-3E79-8987-A5FD45412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There are many other types of robots. Today, we are going to look at </a:t>
            </a:r>
            <a:r>
              <a:rPr lang="en-US"/>
              <a:t>and discuss these five types: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>
                <a:solidFill>
                  <a:schemeClr val="bg1">
                    <a:lumMod val="76000"/>
                  </a:schemeClr>
                </a:solidFill>
              </a:rPr>
              <a:t>Humanoid Robots</a:t>
            </a:r>
          </a:p>
          <a:p>
            <a:pPr marL="514350" indent="-514350">
              <a:buAutoNum type="arabicPeriod"/>
            </a:pPr>
            <a:r>
              <a:rPr lang="en-US">
                <a:solidFill>
                  <a:schemeClr val="bg1">
                    <a:lumMod val="76000"/>
                  </a:schemeClr>
                </a:solidFill>
              </a:rPr>
              <a:t>Gantry Robots</a:t>
            </a:r>
            <a:endParaRPr lang="en-US" dirty="0">
              <a:solidFill>
                <a:schemeClr val="bg1">
                  <a:lumMod val="76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US" dirty="0"/>
              <a:t>SCARA </a:t>
            </a:r>
            <a:r>
              <a:rPr lang="en-US"/>
              <a:t>Robots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/>
              <a:t>Articulated Robots</a:t>
            </a:r>
          </a:p>
          <a:p>
            <a:pPr marL="514350" indent="-514350">
              <a:buAutoNum type="arabicPeriod"/>
            </a:pPr>
            <a:r>
              <a:rPr lang="en-US"/>
              <a:t>Cobots</a:t>
            </a:r>
          </a:p>
        </p:txBody>
      </p:sp>
    </p:spTree>
    <p:extLst>
      <p:ext uri="{BB962C8B-B14F-4D97-AF65-F5344CB8AC3E}">
        <p14:creationId xmlns:p14="http://schemas.microsoft.com/office/powerpoint/2010/main" val="3896449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4AF09-C655-B266-0D59-1558976A5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SCARA Robots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D60A3-EA34-9672-AA37-792426F62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7233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Selective Compliance Articulated Robot Arms (SCARA) robots</a:t>
            </a:r>
          </a:p>
          <a:p>
            <a:r>
              <a:rPr lang="en-US" dirty="0"/>
              <a:t>High-speed, high-precision, </a:t>
            </a:r>
            <a:r>
              <a:rPr lang="en-US" err="1"/>
              <a:t>excelle</a:t>
            </a:r>
            <a:r>
              <a:rPr lang="en-US"/>
              <a:t>nt repeatability</a:t>
            </a:r>
          </a:p>
          <a:p>
            <a:r>
              <a:rPr lang="en-US"/>
              <a:t>Four axes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SCARA - Wikipedia">
            <a:extLst>
              <a:ext uri="{FF2B5EF4-FFF2-40B4-BE49-F238E27FC236}">
                <a16:creationId xmlns:a16="http://schemas.microsoft.com/office/drawing/2014/main" id="{E9051AC6-168B-0E92-BE8F-70043B6C1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382" y="880739"/>
            <a:ext cx="5102434" cy="48974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85E2E4-6507-3BC0-2DC7-B371C31C21C8}"/>
              </a:ext>
            </a:extLst>
          </p:cNvPr>
          <p:cNvSpPr txBox="1"/>
          <p:nvPr/>
        </p:nvSpPr>
        <p:spPr>
          <a:xfrm>
            <a:off x="7176796" y="5987143"/>
            <a:ext cx="4704183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 dirty="0">
                <a:ea typeface="+mn-lt"/>
                <a:cs typeface="+mn-lt"/>
              </a:rPr>
              <a:t>https://upload.wikimedia.org/wikipedia/commons/0/09/SCARA_robot_2R.png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55878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BA7BF-296E-CBB1-3DE5-A784A6A5F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E4967-A048-D1C9-B9BE-F092C2FC3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SCARA Robots</a:t>
            </a:r>
          </a:p>
        </p:txBody>
      </p:sp>
      <p:pic>
        <p:nvPicPr>
          <p:cNvPr id="8" name="Online Media 7" title="SCARA.MOV">
            <a:hlinkClick r:id="" action="ppaction://noaction"/>
            <a:extLst>
              <a:ext uri="{FF2B5EF4-FFF2-40B4-BE49-F238E27FC236}">
                <a16:creationId xmlns:a16="http://schemas.microsoft.com/office/drawing/2014/main" id="{362AEAD3-A027-3E47-F0C6-7C5F313440E8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22224" y="1972683"/>
            <a:ext cx="7734300" cy="4351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ECB3A1D-460E-14F5-4536-42BF985D5AC7}"/>
              </a:ext>
            </a:extLst>
          </p:cNvPr>
          <p:cNvSpPr txBox="1"/>
          <p:nvPr/>
        </p:nvSpPr>
        <p:spPr>
          <a:xfrm>
            <a:off x="894521" y="1311965"/>
            <a:ext cx="1038970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Used for assembly, palletizing, packaging, pick-and-place, etc.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45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27C40-E1BE-E893-458F-E6BA2B36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27ED8-0284-CD7C-A829-6CD1744D3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SCARA Robots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13A01-E055-7C53-4DA4-79A5B6D2A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7233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What</a:t>
            </a:r>
            <a:r>
              <a:rPr lang="en-US" dirty="0"/>
              <a:t> are some </a:t>
            </a:r>
            <a:r>
              <a:rPr lang="en-US"/>
              <a:t>limitations of this type of robot?</a:t>
            </a:r>
          </a:p>
        </p:txBody>
      </p:sp>
      <p:pic>
        <p:nvPicPr>
          <p:cNvPr id="5" name="Picture 4" descr="SCARA - Wikipedia">
            <a:extLst>
              <a:ext uri="{FF2B5EF4-FFF2-40B4-BE49-F238E27FC236}">
                <a16:creationId xmlns:a16="http://schemas.microsoft.com/office/drawing/2014/main" id="{47E9B36D-D561-80A8-6445-0AA24B5DB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382" y="880739"/>
            <a:ext cx="5102434" cy="48974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E99A83-55A3-A96B-47F8-DF5ECCC2D051}"/>
              </a:ext>
            </a:extLst>
          </p:cNvPr>
          <p:cNvSpPr txBox="1"/>
          <p:nvPr/>
        </p:nvSpPr>
        <p:spPr>
          <a:xfrm>
            <a:off x="7176796" y="5987143"/>
            <a:ext cx="4704183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 dirty="0">
                <a:ea typeface="+mn-lt"/>
                <a:cs typeface="+mn-lt"/>
              </a:rPr>
              <a:t>https://upload.wikimedia.org/wikipedia/commons/0/09/SCARA_robot_2R.png</a:t>
            </a:r>
            <a:endParaRPr lang="en-US" sz="10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DFF0CA6-B855-F605-ABF4-347A78E13864}"/>
              </a:ext>
            </a:extLst>
          </p:cNvPr>
          <p:cNvSpPr txBox="1">
            <a:spLocks/>
          </p:cNvSpPr>
          <p:nvPr/>
        </p:nvSpPr>
        <p:spPr>
          <a:xfrm>
            <a:off x="838200" y="2945434"/>
            <a:ext cx="5970105" cy="30327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Short reach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Light payload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/>
              <a:t>Limited by three planes of movement, can't work with curved surfaces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Etc...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116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655DD-862E-C605-70D8-859B45CEC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1BDAE-43E1-A533-B252-4F26455F6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01D4F-6957-B714-A8CC-BEE76B225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There are many other types of robots. Today, we are going to look at </a:t>
            </a:r>
            <a:r>
              <a:rPr lang="en-US"/>
              <a:t>and discuss these five types: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>
                <a:solidFill>
                  <a:schemeClr val="bg1">
                    <a:lumMod val="76000"/>
                  </a:schemeClr>
                </a:solidFill>
              </a:rPr>
              <a:t>Humanoid Robots</a:t>
            </a:r>
          </a:p>
          <a:p>
            <a:pPr marL="514350" indent="-514350">
              <a:buAutoNum type="arabicPeriod"/>
            </a:pPr>
            <a:r>
              <a:rPr lang="en-US">
                <a:solidFill>
                  <a:schemeClr val="bg1">
                    <a:lumMod val="76000"/>
                  </a:schemeClr>
                </a:solidFill>
              </a:rPr>
              <a:t>Gantry Robots</a:t>
            </a:r>
            <a:endParaRPr lang="en-US" dirty="0">
              <a:solidFill>
                <a:schemeClr val="bg1">
                  <a:lumMod val="76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SCARA </a:t>
            </a:r>
            <a:r>
              <a:rPr lang="en-US">
                <a:solidFill>
                  <a:schemeClr val="bg1">
                    <a:lumMod val="76000"/>
                  </a:schemeClr>
                </a:solidFill>
              </a:rPr>
              <a:t>Robots</a:t>
            </a:r>
            <a:endParaRPr lang="en-US" dirty="0">
              <a:solidFill>
                <a:schemeClr val="bg1">
                  <a:lumMod val="76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US"/>
              <a:t>Articulated Robots</a:t>
            </a:r>
          </a:p>
          <a:p>
            <a:pPr marL="514350" indent="-514350">
              <a:buAutoNum type="arabicPeriod"/>
            </a:pPr>
            <a:r>
              <a:rPr lang="en-US"/>
              <a:t>Cobots</a:t>
            </a:r>
          </a:p>
        </p:txBody>
      </p:sp>
    </p:spTree>
    <p:extLst>
      <p:ext uri="{BB962C8B-B14F-4D97-AF65-F5344CB8AC3E}">
        <p14:creationId xmlns:p14="http://schemas.microsoft.com/office/powerpoint/2010/main" val="3594200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RX-10iA/L- Light and easy to program">
            <a:extLst>
              <a:ext uri="{FF2B5EF4-FFF2-40B4-BE49-F238E27FC236}">
                <a16:creationId xmlns:a16="http://schemas.microsoft.com/office/drawing/2014/main" id="{F7551128-BCE5-6561-09B5-4AB28C1F2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115" y="532967"/>
            <a:ext cx="7571790" cy="52322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19F50B-49E2-3944-1B9C-DEEA6CF6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Articulated Robots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99F9B-A443-7CEC-ACDE-2ACB861CF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2737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Articulated robots are arms with rotary joints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Rotary joints are connection points allowing rotational movement around a single axis, acting like a human joint (shoulder, elbow, wrist)</a:t>
            </a:r>
          </a:p>
          <a:p>
            <a:r>
              <a:rPr lang="en-US" dirty="0"/>
              <a:t>Typically four to seven joints (or axes)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Six is probably most common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1673A9-BC69-D4DD-D743-E48A80418D17}"/>
              </a:ext>
            </a:extLst>
          </p:cNvPr>
          <p:cNvSpPr txBox="1"/>
          <p:nvPr/>
        </p:nvSpPr>
        <p:spPr>
          <a:xfrm>
            <a:off x="6313714" y="5854959"/>
            <a:ext cx="5357326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00" dirty="0">
                <a:ea typeface="+mn-lt"/>
                <a:cs typeface="+mn-lt"/>
              </a:rPr>
              <a:t>https://d16ohktstcjvly.cloudfront.net/image/513891251684/image_2jpmakctih2bd5pq8eo0d5l60d/-T1%3A1.2-FJPG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2629726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93AF6-4332-7E76-1298-4DB81C1FD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chool of Architecture Digital Technologies Wiki - University Wiki Service">
            <a:extLst>
              <a:ext uri="{FF2B5EF4-FFF2-40B4-BE49-F238E27FC236}">
                <a16:creationId xmlns:a16="http://schemas.microsoft.com/office/drawing/2014/main" id="{C6AD3EAF-484C-C331-6D53-93221D3E8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9658" y="482413"/>
            <a:ext cx="6179974" cy="53753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B4EA07-9BC8-FFB5-B3BA-FDB919973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Articulated Robots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FDD23-5CF4-E3BE-4925-E3558E830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27374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/>
              <a:t>These robots are often controlled one of two ways:</a:t>
            </a:r>
            <a:endParaRPr lang="en-US" dirty="0"/>
          </a:p>
          <a:p>
            <a:r>
              <a:rPr lang="en-US"/>
              <a:t>First, by sending degree values to each axis in a list like this:</a:t>
            </a:r>
          </a:p>
          <a:p>
            <a:pPr marL="0" indent="0">
              <a:buNone/>
            </a:pPr>
            <a:r>
              <a:rPr lang="en-US"/>
              <a:t>      [0, 0, 0, 0, 0, 90]</a:t>
            </a:r>
            <a:endParaRPr lang="en-US" dirty="0"/>
          </a:p>
          <a:p>
            <a:pPr marL="0" indent="0">
              <a:buNone/>
            </a:pPr>
            <a:r>
              <a:rPr lang="en-US"/>
              <a:t>                Or</a:t>
            </a:r>
            <a:endParaRPr lang="en-US" dirty="0"/>
          </a:p>
          <a:p>
            <a:pPr marL="0" indent="0">
              <a:buNone/>
            </a:pPr>
            <a:r>
              <a:rPr lang="en-US"/>
              <a:t>      [0, 0, 90, 0, 0, 90]</a:t>
            </a:r>
          </a:p>
          <a:p>
            <a:r>
              <a:rPr lang="en-US"/>
              <a:t>This is called </a:t>
            </a:r>
            <a:r>
              <a:rPr lang="en-US" b="1">
                <a:solidFill>
                  <a:schemeClr val="tx2">
                    <a:lumMod val="49000"/>
                    <a:lumOff val="51000"/>
                  </a:schemeClr>
                </a:solidFill>
              </a:rPr>
              <a:t>joint movement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But we often don't think of space like this...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6EF57B-1C6C-DA38-C22E-CAF8980FF9B5}"/>
              </a:ext>
            </a:extLst>
          </p:cNvPr>
          <p:cNvSpPr txBox="1"/>
          <p:nvPr/>
        </p:nvSpPr>
        <p:spPr>
          <a:xfrm>
            <a:off x="6313714" y="5854959"/>
            <a:ext cx="5357326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00" dirty="0">
                <a:ea typeface="+mn-lt"/>
                <a:cs typeface="+mn-lt"/>
              </a:rPr>
              <a:t>https://docs.quanser.com/quarc/documentation/kuka_axes.gif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879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017CB-EA42-F8F1-7B40-E4A7C1554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841B1-3F88-65C2-C2AD-89DDC0C8A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Articulated Robots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61CBE-5963-F0F6-F8C2-7744B1641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27374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So, most articulated robots also offer </a:t>
            </a:r>
            <a:r>
              <a:rPr lang="en-US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cartesian movements</a:t>
            </a:r>
            <a:r>
              <a:rPr lang="en-US" dirty="0"/>
              <a:t>, which allow us to pass x, y, z coordinates, and the robot </a:t>
            </a:r>
            <a:r>
              <a:rPr lang="en-US"/>
              <a:t>calculates the joint values to get there.</a:t>
            </a:r>
            <a:endParaRPr lang="en-US" dirty="0"/>
          </a:p>
          <a:p>
            <a:pPr marL="0" indent="0">
              <a:buNone/>
            </a:pPr>
            <a:r>
              <a:rPr lang="en-US"/>
              <a:t>Like this:</a:t>
            </a:r>
          </a:p>
          <a:p>
            <a:pPr marL="0" indent="0">
              <a:buNone/>
            </a:pPr>
            <a:r>
              <a:rPr lang="en-US"/>
              <a:t>      [600, 100, 50, -180, 0, 180]</a:t>
            </a:r>
          </a:p>
          <a:p>
            <a:pPr marL="0" indent="0">
              <a:buNone/>
            </a:pPr>
            <a:endParaRPr lang="en-US" sz="1600" dirty="0">
              <a:solidFill>
                <a:schemeClr val="bg2">
                  <a:lumMod val="49000"/>
                </a:schemeClr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2">
                  <a:lumMod val="49000"/>
                </a:schemeClr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bg2">
                    <a:lumMod val="49000"/>
                  </a:schemeClr>
                </a:solidFill>
              </a:rPr>
              <a:t>Note: from end of arm, often in millimeters</a:t>
            </a:r>
            <a:endParaRPr lang="en-US" sz="1600" dirty="0">
              <a:solidFill>
                <a:schemeClr val="bg2">
                  <a:lumMod val="49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5E52C3-DF80-4E98-17B6-AFDFE3C0C3F0}"/>
              </a:ext>
            </a:extLst>
          </p:cNvPr>
          <p:cNvSpPr txBox="1"/>
          <p:nvPr/>
        </p:nvSpPr>
        <p:spPr>
          <a:xfrm>
            <a:off x="6360367" y="6150428"/>
            <a:ext cx="535732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00" dirty="0">
                <a:ea typeface="+mn-lt"/>
                <a:cs typeface="+mn-lt"/>
              </a:rPr>
              <a:t>https://education.vex.com/stemlabs/sites/default/files/inline-images/Screen%20Shot%202023-11-08%20at%201.09.12%20PM%20%282%29.png</a:t>
            </a:r>
            <a:endParaRPr lang="en-US" dirty="0"/>
          </a:p>
        </p:txBody>
      </p:sp>
      <p:pic>
        <p:nvPicPr>
          <p:cNvPr id="4" name="Picture 3" descr="VEX CTE - Unit 1 - Introduction to Robotic Arms - Lesson 3: The Coordinate  System of the 6-Axis Arm">
            <a:extLst>
              <a:ext uri="{FF2B5EF4-FFF2-40B4-BE49-F238E27FC236}">
                <a16:creationId xmlns:a16="http://schemas.microsoft.com/office/drawing/2014/main" id="{B1C50218-5638-93B7-BED3-06B81DE7F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479" y="507976"/>
            <a:ext cx="5355771" cy="55479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69FA9A-A294-3FC1-DD92-02B0AB311EBC}"/>
              </a:ext>
            </a:extLst>
          </p:cNvPr>
          <p:cNvSpPr txBox="1"/>
          <p:nvPr/>
        </p:nvSpPr>
        <p:spPr>
          <a:xfrm>
            <a:off x="1881808" y="4757530"/>
            <a:ext cx="17824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X </a:t>
            </a:r>
            <a:r>
              <a:rPr lang="en-US" dirty="0"/>
              <a:t>     </a:t>
            </a:r>
            <a:r>
              <a:rPr lang="en-US" dirty="0">
                <a:solidFill>
                  <a:srgbClr val="000000"/>
                </a:solidFill>
              </a:rPr>
              <a:t>      </a:t>
            </a:r>
            <a:r>
              <a:rPr lang="en-US" dirty="0">
                <a:solidFill>
                  <a:srgbClr val="00B050"/>
                </a:solidFill>
              </a:rPr>
              <a:t>Y  </a:t>
            </a:r>
            <a:r>
              <a:rPr lang="en-US" dirty="0"/>
              <a:t> </a:t>
            </a:r>
            <a:r>
              <a:rPr lang="en-US" dirty="0">
                <a:solidFill>
                  <a:srgbClr val="0070C0"/>
                </a:solidFill>
              </a:rPr>
              <a:t>      </a:t>
            </a:r>
            <a:r>
              <a:rPr lang="en-US">
                <a:solidFill>
                  <a:srgbClr val="0070C0"/>
                </a:solidFill>
              </a:rPr>
              <a:t>    Z</a:t>
            </a:r>
          </a:p>
        </p:txBody>
      </p:sp>
    </p:spTree>
    <p:extLst>
      <p:ext uri="{BB962C8B-B14F-4D97-AF65-F5344CB8AC3E}">
        <p14:creationId xmlns:p14="http://schemas.microsoft.com/office/powerpoint/2010/main" val="5425260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AF13F-7CCB-D17A-656E-648F4A9B8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Side Note: </a:t>
            </a:r>
            <a:r>
              <a:rPr lang="en-US" dirty="0"/>
              <a:t>Right Hand Rule</a:t>
            </a:r>
          </a:p>
        </p:txBody>
      </p:sp>
      <p:pic>
        <p:nvPicPr>
          <p:cNvPr id="4" name="Content Placeholder 3" descr="Coordinate Frame Basics and the Right-Hand Rule of Robotics">
            <a:extLst>
              <a:ext uri="{FF2B5EF4-FFF2-40B4-BE49-F238E27FC236}">
                <a16:creationId xmlns:a16="http://schemas.microsoft.com/office/drawing/2014/main" id="{E79D2E56-989B-73FC-EDA1-F09C6A7411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46743" y="1473856"/>
            <a:ext cx="5715000" cy="428625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349903D-0F72-3784-C43F-63A452CE70D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261114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Right-Hand-Rule (RHR) can help us with programmi</a:t>
            </a:r>
            <a:r>
              <a:rPr lang="en-US"/>
              <a:t>ng robot movement.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E8DDA6-185C-1416-8BAF-98CF93F5FA16}"/>
              </a:ext>
            </a:extLst>
          </p:cNvPr>
          <p:cNvSpPr txBox="1"/>
          <p:nvPr/>
        </p:nvSpPr>
        <p:spPr>
          <a:xfrm>
            <a:off x="6632712" y="5950225"/>
            <a:ext cx="465151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 dirty="0">
                <a:ea typeface="+mn-lt"/>
                <a:cs typeface="+mn-lt"/>
              </a:rPr>
              <a:t>https://automaticaddison.com/wp-content/uploads/2024/11/2-right-hand-rule-of-robotics.jpg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070648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553E5-EDC5-E78D-306D-31F8A83E1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19491-9AF9-2BD2-61CB-B7D24A7AF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Articulated Robots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435F8-DD02-9BDC-299B-DA73768A1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27374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So, most articulated robots also offer </a:t>
            </a:r>
            <a:r>
              <a:rPr lang="en-US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cartesian movements</a:t>
            </a:r>
            <a:r>
              <a:rPr lang="en-US" dirty="0"/>
              <a:t>, which allow us to pass x, y, z coordinates, and the robot </a:t>
            </a:r>
            <a:r>
              <a:rPr lang="en-US"/>
              <a:t>calculates the joint values to get there.</a:t>
            </a:r>
            <a:endParaRPr lang="en-US" dirty="0"/>
          </a:p>
          <a:p>
            <a:pPr marL="0" indent="0">
              <a:buNone/>
            </a:pPr>
            <a:r>
              <a:rPr lang="en-US"/>
              <a:t>Like this:</a:t>
            </a:r>
          </a:p>
          <a:p>
            <a:pPr marL="0" indent="0">
              <a:buNone/>
            </a:pPr>
            <a:r>
              <a:rPr lang="en-US"/>
              <a:t>      [600, 100, 50, -180, 0, 180]</a:t>
            </a:r>
          </a:p>
          <a:p>
            <a:pPr marL="0" indent="0">
              <a:buNone/>
            </a:pPr>
            <a:endParaRPr lang="en-US" sz="1600" dirty="0">
              <a:solidFill>
                <a:schemeClr val="bg2">
                  <a:lumMod val="49000"/>
                </a:schemeClr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2">
                  <a:lumMod val="49000"/>
                </a:schemeClr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bg2">
                    <a:lumMod val="49000"/>
                  </a:schemeClr>
                </a:solidFill>
              </a:rPr>
              <a:t>Note: from end of arm, often in millimeters</a:t>
            </a:r>
            <a:endParaRPr lang="en-US" sz="1600" dirty="0">
              <a:solidFill>
                <a:schemeClr val="bg2">
                  <a:lumMod val="49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4F742F-5908-9677-4A7A-965CBA86F8E1}"/>
              </a:ext>
            </a:extLst>
          </p:cNvPr>
          <p:cNvSpPr txBox="1"/>
          <p:nvPr/>
        </p:nvSpPr>
        <p:spPr>
          <a:xfrm>
            <a:off x="6360367" y="6150428"/>
            <a:ext cx="535732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00" dirty="0">
                <a:ea typeface="+mn-lt"/>
                <a:cs typeface="+mn-lt"/>
              </a:rPr>
              <a:t>https://education.vex.com/stemlabs/sites/default/files/inline-images/Screen%20Shot%202023-11-08%20at%201.09.12%20PM%20%282%29.png</a:t>
            </a:r>
            <a:endParaRPr lang="en-US" dirty="0"/>
          </a:p>
        </p:txBody>
      </p:sp>
      <p:pic>
        <p:nvPicPr>
          <p:cNvPr id="4" name="Picture 3" descr="VEX CTE - Unit 1 - Introduction to Robotic Arms - Lesson 3: The Coordinate  System of the 6-Axis Arm">
            <a:extLst>
              <a:ext uri="{FF2B5EF4-FFF2-40B4-BE49-F238E27FC236}">
                <a16:creationId xmlns:a16="http://schemas.microsoft.com/office/drawing/2014/main" id="{2E28817F-EFEA-2F3D-B0E9-D776EF6A5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479" y="507976"/>
            <a:ext cx="5355771" cy="55479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85F298-F8BC-CF0A-A6ED-F777E2902484}"/>
              </a:ext>
            </a:extLst>
          </p:cNvPr>
          <p:cNvSpPr txBox="1"/>
          <p:nvPr/>
        </p:nvSpPr>
        <p:spPr>
          <a:xfrm>
            <a:off x="1881808" y="4757530"/>
            <a:ext cx="17824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X </a:t>
            </a:r>
            <a:r>
              <a:rPr lang="en-US" dirty="0"/>
              <a:t>     </a:t>
            </a:r>
            <a:r>
              <a:rPr lang="en-US" dirty="0">
                <a:solidFill>
                  <a:srgbClr val="000000"/>
                </a:solidFill>
              </a:rPr>
              <a:t>      </a:t>
            </a:r>
            <a:r>
              <a:rPr lang="en-US" dirty="0">
                <a:solidFill>
                  <a:srgbClr val="00B050"/>
                </a:solidFill>
              </a:rPr>
              <a:t>Y  </a:t>
            </a:r>
            <a:r>
              <a:rPr lang="en-US" dirty="0"/>
              <a:t> </a:t>
            </a:r>
            <a:r>
              <a:rPr lang="en-US" dirty="0">
                <a:solidFill>
                  <a:srgbClr val="0070C0"/>
                </a:solidFill>
              </a:rPr>
              <a:t>      </a:t>
            </a:r>
            <a:r>
              <a:rPr lang="en-US">
                <a:solidFill>
                  <a:srgbClr val="0070C0"/>
                </a:solidFill>
              </a:rPr>
              <a:t>    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226D3D-9AB0-C7DE-A568-79C203083DE6}"/>
              </a:ext>
            </a:extLst>
          </p:cNvPr>
          <p:cNvSpPr txBox="1"/>
          <p:nvPr/>
        </p:nvSpPr>
        <p:spPr>
          <a:xfrm>
            <a:off x="3756990" y="4757529"/>
            <a:ext cx="24185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...but what are these?</a:t>
            </a:r>
          </a:p>
        </p:txBody>
      </p:sp>
    </p:spTree>
    <p:extLst>
      <p:ext uri="{BB962C8B-B14F-4D97-AF65-F5344CB8AC3E}">
        <p14:creationId xmlns:p14="http://schemas.microsoft.com/office/powerpoint/2010/main" val="1500254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7EFA5-6F57-01B3-653A-24079FC37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E98D8-A356-095F-0A0F-51178166F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Articulated Robots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81792-F4E1-52B0-C109-57903F9ED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2737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With  </a:t>
            </a:r>
            <a:r>
              <a:rPr lang="en-US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cartesian movements</a:t>
            </a:r>
            <a:r>
              <a:rPr lang="en-US" dirty="0"/>
              <a:t>, we pass x, y, and z </a:t>
            </a:r>
            <a:r>
              <a:rPr lang="en-US" i="1" dirty="0"/>
              <a:t>and </a:t>
            </a:r>
            <a:r>
              <a:rPr lang="en-US" dirty="0"/>
              <a:t>something called </a:t>
            </a:r>
            <a:r>
              <a:rPr lang="en-US" b="1"/>
              <a:t>Euler Angles</a:t>
            </a:r>
            <a:endParaRPr lang="en-US" b="1" dirty="0"/>
          </a:p>
          <a:p>
            <a:pPr marL="0" indent="0">
              <a:buNone/>
            </a:pPr>
            <a:r>
              <a:rPr lang="en-US"/>
              <a:t>      [600, 100, 50, -180, 0, 180]</a:t>
            </a:r>
          </a:p>
          <a:p>
            <a:pPr marL="0" indent="0">
              <a:buNone/>
            </a:pPr>
            <a:endParaRPr lang="en-US" sz="1600" dirty="0">
              <a:solidFill>
                <a:schemeClr val="bg2">
                  <a:lumMod val="49000"/>
                </a:schemeClr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2">
                  <a:lumMod val="49000"/>
                </a:schemeClr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The Euler Angles define the tool's orientation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000000"/>
                </a:solidFill>
              </a:rPr>
              <a:t>The rotation around each axis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B21507-7BF7-B845-A665-89F58C51F011}"/>
              </a:ext>
            </a:extLst>
          </p:cNvPr>
          <p:cNvSpPr txBox="1"/>
          <p:nvPr/>
        </p:nvSpPr>
        <p:spPr>
          <a:xfrm>
            <a:off x="6360367" y="6150428"/>
            <a:ext cx="535732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00" dirty="0">
                <a:ea typeface="+mn-lt"/>
                <a:cs typeface="+mn-lt"/>
              </a:rPr>
              <a:t>https://education.vex.com/stemlabs/sites/default/files/inline-images/Screen%20Shot%202023-11-08%20at%201.09.12%20PM%20%282%29.png</a:t>
            </a:r>
            <a:endParaRPr lang="en-US" dirty="0"/>
          </a:p>
        </p:txBody>
      </p:sp>
      <p:pic>
        <p:nvPicPr>
          <p:cNvPr id="4" name="Picture 3" descr="VEX CTE - Unit 1 - Introduction to Robotic Arms - Lesson 3: The Coordinate  System of the 6-Axis Arm">
            <a:extLst>
              <a:ext uri="{FF2B5EF4-FFF2-40B4-BE49-F238E27FC236}">
                <a16:creationId xmlns:a16="http://schemas.microsoft.com/office/drawing/2014/main" id="{67A92674-102E-99E9-AC32-185C21FEB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479" y="507976"/>
            <a:ext cx="5355771" cy="55479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08A3AB-CC65-A216-9F6F-3241531718D1}"/>
              </a:ext>
            </a:extLst>
          </p:cNvPr>
          <p:cNvSpPr txBox="1"/>
          <p:nvPr/>
        </p:nvSpPr>
        <p:spPr>
          <a:xfrm>
            <a:off x="1894182" y="3429608"/>
            <a:ext cx="17824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X </a:t>
            </a:r>
            <a:r>
              <a:rPr lang="en-US" dirty="0"/>
              <a:t>     </a:t>
            </a:r>
            <a:r>
              <a:rPr lang="en-US" dirty="0">
                <a:solidFill>
                  <a:srgbClr val="000000"/>
                </a:solidFill>
              </a:rPr>
              <a:t>      </a:t>
            </a:r>
            <a:r>
              <a:rPr lang="en-US" dirty="0">
                <a:solidFill>
                  <a:srgbClr val="00B050"/>
                </a:solidFill>
              </a:rPr>
              <a:t>Y  </a:t>
            </a:r>
            <a:r>
              <a:rPr lang="en-US" dirty="0"/>
              <a:t> </a:t>
            </a:r>
            <a:r>
              <a:rPr lang="en-US" dirty="0">
                <a:solidFill>
                  <a:srgbClr val="0070C0"/>
                </a:solidFill>
              </a:rPr>
              <a:t>      </a:t>
            </a:r>
            <a:r>
              <a:rPr lang="en-US">
                <a:solidFill>
                  <a:srgbClr val="0070C0"/>
                </a:solidFill>
              </a:rPr>
              <a:t>    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74FCF9-3294-55B0-795B-CE2A0C90E709}"/>
              </a:ext>
            </a:extLst>
          </p:cNvPr>
          <p:cNvSpPr txBox="1"/>
          <p:nvPr/>
        </p:nvSpPr>
        <p:spPr>
          <a:xfrm>
            <a:off x="4132716" y="3793501"/>
            <a:ext cx="24185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Euler Angles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C65323-8528-E7F4-B9F2-CE281A751BE8}"/>
              </a:ext>
            </a:extLst>
          </p:cNvPr>
          <p:cNvSpPr txBox="1"/>
          <p:nvPr/>
        </p:nvSpPr>
        <p:spPr>
          <a:xfrm>
            <a:off x="3814663" y="3429065"/>
            <a:ext cx="24185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Yaw     Pitch   Roll</a:t>
            </a:r>
            <a:endParaRPr lang="en-US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AFC39E58-BF12-5B92-9077-46BD1793A68A}"/>
              </a:ext>
            </a:extLst>
          </p:cNvPr>
          <p:cNvSpPr/>
          <p:nvPr/>
        </p:nvSpPr>
        <p:spPr>
          <a:xfrm rot="5400000">
            <a:off x="4689745" y="2816087"/>
            <a:ext cx="148822" cy="185530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1924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B3734-2C62-A091-FB78-BF0F64DC4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21C21-7BCD-B311-DC81-2911378E0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Articulated Robots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5D5AE-6856-880F-8D6F-AB7F4D9AC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2737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With  </a:t>
            </a:r>
            <a:r>
              <a:rPr lang="en-US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cartesian movements</a:t>
            </a:r>
            <a:r>
              <a:rPr lang="en-US" dirty="0"/>
              <a:t>, we pass x, y, and z </a:t>
            </a:r>
            <a:r>
              <a:rPr lang="en-US" i="1" dirty="0"/>
              <a:t>and </a:t>
            </a:r>
            <a:r>
              <a:rPr lang="en-US" dirty="0"/>
              <a:t>something called </a:t>
            </a:r>
            <a:r>
              <a:rPr lang="en-US" b="1"/>
              <a:t>Euler Angles</a:t>
            </a:r>
            <a:endParaRPr lang="en-US" b="1" dirty="0"/>
          </a:p>
          <a:p>
            <a:pPr marL="0" indent="0">
              <a:buNone/>
            </a:pPr>
            <a:r>
              <a:rPr lang="en-US"/>
              <a:t>      [600, 100, 50, -180, 0, 180]</a:t>
            </a:r>
          </a:p>
          <a:p>
            <a:pPr marL="0" indent="0">
              <a:buNone/>
            </a:pPr>
            <a:endParaRPr lang="en-US" sz="1600" dirty="0">
              <a:solidFill>
                <a:schemeClr val="bg2">
                  <a:lumMod val="49000"/>
                </a:schemeClr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2">
                  <a:lumMod val="49000"/>
                </a:schemeClr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The Euler Angles define the tool's orientation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000000"/>
                </a:solidFill>
              </a:rPr>
              <a:t>The rotation around each axis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2FB9C-52DD-4C5F-7C06-CC7FDD3C0310}"/>
              </a:ext>
            </a:extLst>
          </p:cNvPr>
          <p:cNvSpPr txBox="1"/>
          <p:nvPr/>
        </p:nvSpPr>
        <p:spPr>
          <a:xfrm>
            <a:off x="1894182" y="3429608"/>
            <a:ext cx="17824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X </a:t>
            </a:r>
            <a:r>
              <a:rPr lang="en-US" dirty="0"/>
              <a:t>     </a:t>
            </a:r>
            <a:r>
              <a:rPr lang="en-US" dirty="0">
                <a:solidFill>
                  <a:srgbClr val="000000"/>
                </a:solidFill>
              </a:rPr>
              <a:t>      </a:t>
            </a:r>
            <a:r>
              <a:rPr lang="en-US" dirty="0">
                <a:solidFill>
                  <a:srgbClr val="00B050"/>
                </a:solidFill>
              </a:rPr>
              <a:t>Y  </a:t>
            </a:r>
            <a:r>
              <a:rPr lang="en-US" dirty="0"/>
              <a:t> </a:t>
            </a:r>
            <a:r>
              <a:rPr lang="en-US" dirty="0">
                <a:solidFill>
                  <a:srgbClr val="0070C0"/>
                </a:solidFill>
              </a:rPr>
              <a:t>      </a:t>
            </a:r>
            <a:r>
              <a:rPr lang="en-US">
                <a:solidFill>
                  <a:srgbClr val="0070C0"/>
                </a:solidFill>
              </a:rPr>
              <a:t>    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42C6BE-2396-9A5D-7235-E7FD9976D503}"/>
              </a:ext>
            </a:extLst>
          </p:cNvPr>
          <p:cNvSpPr txBox="1"/>
          <p:nvPr/>
        </p:nvSpPr>
        <p:spPr>
          <a:xfrm>
            <a:off x="4132716" y="3793501"/>
            <a:ext cx="24185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Euler Angles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3B3883-3B73-8997-87CC-02EB97DDCCF7}"/>
              </a:ext>
            </a:extLst>
          </p:cNvPr>
          <p:cNvSpPr txBox="1"/>
          <p:nvPr/>
        </p:nvSpPr>
        <p:spPr>
          <a:xfrm>
            <a:off x="3814663" y="3429065"/>
            <a:ext cx="24185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Yaw     Pitch   Roll</a:t>
            </a:r>
            <a:endParaRPr lang="en-US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55CC2930-FBBE-5345-0FEE-CE3E88389781}"/>
              </a:ext>
            </a:extLst>
          </p:cNvPr>
          <p:cNvSpPr/>
          <p:nvPr/>
        </p:nvSpPr>
        <p:spPr>
          <a:xfrm rot="5400000">
            <a:off x="4689745" y="2816087"/>
            <a:ext cx="148822" cy="185530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lane with red and green lines and arrows&#10;&#10;AI-generated content may be incorrect.">
            <a:extLst>
              <a:ext uri="{FF2B5EF4-FFF2-40B4-BE49-F238E27FC236}">
                <a16:creationId xmlns:a16="http://schemas.microsoft.com/office/drawing/2014/main" id="{FA375294-CB1B-02DF-7EE4-5EF0ADA56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744" y="1522966"/>
            <a:ext cx="5332758" cy="351389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726319D-DA6D-1BB8-BC7B-5129EA71755B}"/>
              </a:ext>
            </a:extLst>
          </p:cNvPr>
          <p:cNvSpPr txBox="1"/>
          <p:nvPr/>
        </p:nvSpPr>
        <p:spPr>
          <a:xfrm>
            <a:off x="6552523" y="5037244"/>
            <a:ext cx="5357326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00" dirty="0">
                <a:ea typeface="+mn-lt"/>
                <a:cs typeface="+mn-lt"/>
              </a:rPr>
              <a:t>https://www.researchgate.net/figure/a-Pitch-yaw-and-roll-angles-of-an-aircraft-with-body-orientation-O-u-v-original_fig7_348803228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746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6D524-311D-E0B1-CE55-07CA54A6E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0B90E-B447-E9B4-9ABC-077F4A481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Articulated Robots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E5093-CDB0-2345-2211-D571E25BC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2737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Singularities </a:t>
            </a:r>
            <a:r>
              <a:rPr lang="en-US" dirty="0">
                <a:solidFill>
                  <a:srgbClr val="000000"/>
                </a:solidFill>
              </a:rPr>
              <a:t>are points in space where these rules of movement break down, and we try to send a robot to a place it physically </a:t>
            </a:r>
            <a:r>
              <a:rPr lang="en-US">
                <a:solidFill>
                  <a:srgbClr val="000000"/>
                </a:solidFill>
              </a:rPr>
              <a:t>cannot go</a:t>
            </a:r>
            <a:endParaRPr lang="en-US" dirty="0">
              <a:solidFill>
                <a:srgbClr val="000000"/>
              </a:solidFill>
            </a:endParaRPr>
          </a:p>
          <a:p>
            <a:pPr marL="457200" indent="-457200"/>
            <a:r>
              <a:rPr lang="en-US">
                <a:solidFill>
                  <a:srgbClr val="000000"/>
                </a:solidFill>
              </a:rPr>
              <a:t>These most often occur with articulated robots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000000"/>
                </a:solidFill>
              </a:rPr>
              <a:t>Example: what if I try to send this coordinate value?</a:t>
            </a:r>
          </a:p>
          <a:p>
            <a:pPr marL="457200" lvl="1" indent="0">
              <a:buNone/>
            </a:pPr>
            <a:r>
              <a:rPr lang="en-US">
                <a:solidFill>
                  <a:srgbClr val="000000"/>
                </a:solidFill>
              </a:rPr>
              <a:t>                [0,0,0,0,0,0]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C330C1-DEE1-D2A7-11A9-12DF2918FCA6}"/>
              </a:ext>
            </a:extLst>
          </p:cNvPr>
          <p:cNvSpPr txBox="1"/>
          <p:nvPr/>
        </p:nvSpPr>
        <p:spPr>
          <a:xfrm>
            <a:off x="6360367" y="6150428"/>
            <a:ext cx="535732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00" dirty="0">
                <a:ea typeface="+mn-lt"/>
                <a:cs typeface="+mn-lt"/>
              </a:rPr>
              <a:t>https://education.vex.com/stemlabs/sites/default/files/inline-images/Screen%20Shot%202023-11-08%20at%201.09.12%20PM%20%282%29.png</a:t>
            </a:r>
            <a:endParaRPr lang="en-US" dirty="0"/>
          </a:p>
        </p:txBody>
      </p:sp>
      <p:pic>
        <p:nvPicPr>
          <p:cNvPr id="13" name="Picture 12" descr="VEX CTE - Unit 1 - Introduction to Robotic Arms - Lesson 3: The Coordinate  System of the 6-Axis Arm">
            <a:extLst>
              <a:ext uri="{FF2B5EF4-FFF2-40B4-BE49-F238E27FC236}">
                <a16:creationId xmlns:a16="http://schemas.microsoft.com/office/drawing/2014/main" id="{57685073-6D5E-4E77-E737-50060658B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479" y="507976"/>
            <a:ext cx="5355771" cy="554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3803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8A2F6-A6BD-9DC4-9387-05C951272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06AE1-71EB-1AF7-3168-DB0E06D9D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Articulated Robots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AB1A7-EE5E-3460-3101-BF61DCB5B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2737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As with most robots, an end-of-arm tool (EOAT) is added to the end to increase functionality 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Often, but not limited to, a gripper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4629B-33E9-4791-F264-71DEDDAE598B}"/>
              </a:ext>
            </a:extLst>
          </p:cNvPr>
          <p:cNvSpPr txBox="1"/>
          <p:nvPr/>
        </p:nvSpPr>
        <p:spPr>
          <a:xfrm>
            <a:off x="9500863" y="6066993"/>
            <a:ext cx="248160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00" dirty="0">
                <a:ea typeface="+mn-lt"/>
                <a:cs typeface="+mn-lt"/>
              </a:rPr>
              <a:t>https://toolbox.igus.com/wp-content/uploads/2023/10/end-effectors-in-robotics.png</a:t>
            </a:r>
            <a:endParaRPr lang="en-US" dirty="0"/>
          </a:p>
        </p:txBody>
      </p:sp>
      <p:pic>
        <p:nvPicPr>
          <p:cNvPr id="6" name="Picture 5" descr="8201 OnRobot RG2 Adaptive Gripper">
            <a:extLst>
              <a:ext uri="{FF2B5EF4-FFF2-40B4-BE49-F238E27FC236}">
                <a16:creationId xmlns:a16="http://schemas.microsoft.com/office/drawing/2014/main" id="{7A1175DC-216E-C0DE-2EFD-7DC34E7A2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39" y="3495261"/>
            <a:ext cx="2743200" cy="2743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DFC264-4F70-F671-47A5-F2C26C21BB25}"/>
              </a:ext>
            </a:extLst>
          </p:cNvPr>
          <p:cNvSpPr txBox="1"/>
          <p:nvPr/>
        </p:nvSpPr>
        <p:spPr>
          <a:xfrm>
            <a:off x="390939" y="6347790"/>
            <a:ext cx="278295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00" dirty="0">
                <a:ea typeface="+mn-lt"/>
                <a:cs typeface="+mn-lt"/>
              </a:rPr>
              <a:t>https://www.emicorp.com/media/catalog/product/cache/0daeb07bb1d294c1f281fab47369d56a/l/g/lg-8201.jpg</a:t>
            </a:r>
            <a:endParaRPr lang="en-US" sz="800"/>
          </a:p>
        </p:txBody>
      </p:sp>
      <p:pic>
        <p:nvPicPr>
          <p:cNvPr id="8" name="Picture 7" descr="4. Robot end-of arm tooling – Inlearc">
            <a:extLst>
              <a:ext uri="{FF2B5EF4-FFF2-40B4-BE49-F238E27FC236}">
                <a16:creationId xmlns:a16="http://schemas.microsoft.com/office/drawing/2014/main" id="{668B22EA-DC2F-01CC-026F-CCD0D445A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287" y="3594818"/>
            <a:ext cx="3558207" cy="22657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3F2182-6EE8-5A6D-E61C-B46A0357C540}"/>
              </a:ext>
            </a:extLst>
          </p:cNvPr>
          <p:cNvSpPr txBox="1"/>
          <p:nvPr/>
        </p:nvSpPr>
        <p:spPr>
          <a:xfrm>
            <a:off x="3392555" y="5883963"/>
            <a:ext cx="278295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00" dirty="0">
                <a:ea typeface="+mn-lt"/>
                <a:cs typeface="+mn-lt"/>
              </a:rPr>
              <a:t>https://www.tthk.ee/inlearcs/wp-content/uploads/2020/11/Picture-72.png</a:t>
            </a:r>
            <a:endParaRPr lang="en-US" dirty="0"/>
          </a:p>
        </p:txBody>
      </p:sp>
      <p:pic>
        <p:nvPicPr>
          <p:cNvPr id="11" name="Picture 10" descr="A yellow and black robotic arm&#10;&#10;AI-generated content may be incorrect.">
            <a:extLst>
              <a:ext uri="{FF2B5EF4-FFF2-40B4-BE49-F238E27FC236}">
                <a16:creationId xmlns:a16="http://schemas.microsoft.com/office/drawing/2014/main" id="{A889CABC-EFF8-DBBC-9CEB-124598111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9129" y="3128341"/>
            <a:ext cx="2190750" cy="2933700"/>
          </a:xfrm>
          <a:prstGeom prst="rect">
            <a:avLst/>
          </a:prstGeom>
        </p:spPr>
      </p:pic>
      <p:pic>
        <p:nvPicPr>
          <p:cNvPr id="12" name="Picture 11" descr="Custom End-of-Arm-Tools · Millibar Robotics">
            <a:extLst>
              <a:ext uri="{FF2B5EF4-FFF2-40B4-BE49-F238E27FC236}">
                <a16:creationId xmlns:a16="http://schemas.microsoft.com/office/drawing/2014/main" id="{046FD9CC-FF8D-2E4C-E195-67A64DDF67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7599" y="716445"/>
            <a:ext cx="2190750" cy="29337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7B65159-458C-CA5C-F9EE-82EE8F1FE717}"/>
              </a:ext>
            </a:extLst>
          </p:cNvPr>
          <p:cNvSpPr txBox="1"/>
          <p:nvPr/>
        </p:nvSpPr>
        <p:spPr>
          <a:xfrm>
            <a:off x="7022706" y="3694853"/>
            <a:ext cx="2481605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00" dirty="0">
                <a:ea typeface="+mn-lt"/>
                <a:cs typeface="+mn-lt"/>
              </a:rPr>
              <a:t>https://millibar.com/wp-content/uploads/vacuum-pick-head-for-aluminum-tubes-18x2-inch-aluminum-extension-millibar-custom-end-of-arm-tooling-600px.jpg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3349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C8611-CA8F-F57E-1679-AC4A2A034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Articulated Robots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72EC9-339E-A86C-D2F4-2E666B73E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509"/>
            <a:ext cx="600027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We will be using this type of robot in lab this week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Specificall</a:t>
            </a:r>
            <a:r>
              <a:rPr lang="en-US"/>
              <a:t>y, the FANUC CRX-10</a:t>
            </a:r>
            <a:endParaRPr lang="en-US" dirty="0"/>
          </a:p>
        </p:txBody>
      </p:sp>
      <p:pic>
        <p:nvPicPr>
          <p:cNvPr id="4" name="Online Media 3" title="FANUC.MOV">
            <a:hlinkClick r:id="" action="ppaction://noaction"/>
            <a:extLst>
              <a:ext uri="{FF2B5EF4-FFF2-40B4-BE49-F238E27FC236}">
                <a16:creationId xmlns:a16="http://schemas.microsoft.com/office/drawing/2014/main" id="{F3F8893D-123C-9875-E7BD-250E0307B8D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462404" y="68643"/>
            <a:ext cx="3772529" cy="672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8250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A9824-EA4A-0CB8-72AC-32D435E9E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RX-10iA/L- Light and easy to program">
            <a:extLst>
              <a:ext uri="{FF2B5EF4-FFF2-40B4-BE49-F238E27FC236}">
                <a16:creationId xmlns:a16="http://schemas.microsoft.com/office/drawing/2014/main" id="{C2FD4F1B-AE4B-2D54-AE3E-40D2F13E8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115" y="532967"/>
            <a:ext cx="7571790" cy="52322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BDF881-ACF7-F90B-9CD1-4A2DFDB3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Articulated Robots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991894-E51B-C36E-A38D-63C941D3489E}"/>
              </a:ext>
            </a:extLst>
          </p:cNvPr>
          <p:cNvSpPr txBox="1"/>
          <p:nvPr/>
        </p:nvSpPr>
        <p:spPr>
          <a:xfrm>
            <a:off x="6313714" y="5854959"/>
            <a:ext cx="5357326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00" dirty="0">
                <a:ea typeface="+mn-lt"/>
                <a:cs typeface="+mn-lt"/>
              </a:rPr>
              <a:t>https://d16ohktstcjvly.cloudfront.net/image/513891251684/image_2jpmakctih2bd5pq8eo0d5l60d/-T1%3A1.2-FJPG</a:t>
            </a:r>
            <a:endParaRPr lang="en-US" sz="7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6BA7102-A698-B148-48DE-EA583495F97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472335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+mn-lt"/>
                <a:cs typeface="+mn-lt"/>
              </a:rPr>
              <a:t>What</a:t>
            </a:r>
            <a:r>
              <a:rPr lang="en-US" dirty="0"/>
              <a:t> are some </a:t>
            </a:r>
            <a:r>
              <a:rPr lang="en-US"/>
              <a:t>limitations of this type of robot?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1FA0BBD-B922-43BD-2FBE-75C3ABE86B2C}"/>
              </a:ext>
            </a:extLst>
          </p:cNvPr>
          <p:cNvSpPr txBox="1">
            <a:spLocks/>
          </p:cNvSpPr>
          <p:nvPr/>
        </p:nvSpPr>
        <p:spPr>
          <a:xfrm>
            <a:off x="838200" y="2945434"/>
            <a:ext cx="5970105" cy="30327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Specialized programming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Singularities 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Unpredictable path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err="1"/>
              <a:t>Etc</a:t>
            </a:r>
            <a:r>
              <a:rPr lang="en-US"/>
              <a:t>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216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5A38E-7A3D-EA76-A9DC-C3E87834F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B3711-57D9-3A88-AAF6-66E530713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D13C3-DBD4-6A4C-7859-0311C692D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There are many other types of robots. Today, we are going to look at </a:t>
            </a:r>
            <a:r>
              <a:rPr lang="en-US"/>
              <a:t>and discuss these five types: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>
                <a:solidFill>
                  <a:schemeClr val="bg1">
                    <a:lumMod val="76000"/>
                  </a:schemeClr>
                </a:solidFill>
              </a:rPr>
              <a:t>Humanoid Robots</a:t>
            </a:r>
          </a:p>
          <a:p>
            <a:pPr marL="514350" indent="-514350">
              <a:buAutoNum type="arabicPeriod"/>
            </a:pPr>
            <a:r>
              <a:rPr lang="en-US">
                <a:solidFill>
                  <a:schemeClr val="bg1">
                    <a:lumMod val="76000"/>
                  </a:schemeClr>
                </a:solidFill>
              </a:rPr>
              <a:t>Gantry Robots</a:t>
            </a:r>
            <a:endParaRPr lang="en-US" dirty="0">
              <a:solidFill>
                <a:schemeClr val="bg1">
                  <a:lumMod val="76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SCARA </a:t>
            </a:r>
            <a:r>
              <a:rPr lang="en-US">
                <a:solidFill>
                  <a:schemeClr val="bg1">
                    <a:lumMod val="76000"/>
                  </a:schemeClr>
                </a:solidFill>
              </a:rPr>
              <a:t>Robots</a:t>
            </a:r>
            <a:endParaRPr lang="en-US" dirty="0">
              <a:solidFill>
                <a:schemeClr val="bg1">
                  <a:lumMod val="76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US">
                <a:solidFill>
                  <a:schemeClr val="bg1">
                    <a:lumMod val="76000"/>
                  </a:schemeClr>
                </a:solidFill>
              </a:rPr>
              <a:t>Articulated Robots</a:t>
            </a:r>
          </a:p>
          <a:p>
            <a:pPr marL="514350" indent="-514350">
              <a:buAutoNum type="arabicPeriod"/>
            </a:pPr>
            <a:r>
              <a:rPr lang="en-US"/>
              <a:t>Cobots</a:t>
            </a:r>
          </a:p>
        </p:txBody>
      </p:sp>
    </p:spTree>
    <p:extLst>
      <p:ext uri="{BB962C8B-B14F-4D97-AF65-F5344CB8AC3E}">
        <p14:creationId xmlns:p14="http://schemas.microsoft.com/office/powerpoint/2010/main" val="42947570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708DE-DC8D-DEAC-A4BF-52A39D5EA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Cobots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10DE3-5AEC-FAFE-1AA9-32E85BD39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Finally, Collaborative Robots (cobots for short) are robots that are </a:t>
            </a:r>
            <a:r>
              <a:rPr lang="en-US"/>
              <a:t>safe for humans to work around without protective cages</a:t>
            </a:r>
          </a:p>
          <a:p>
            <a:r>
              <a:rPr lang="en-US" dirty="0"/>
              <a:t>They have safety sensors in each joint that detect resi</a:t>
            </a:r>
            <a:r>
              <a:rPr lang="en-US"/>
              <a:t>stance and stop all movement if it crosses some threshold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They are not 100% safe, you can still hit your head and they can still drop things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But much safer than no sensing at all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1817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59793-C58E-CF30-B280-1BEF4FA27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C5070-732F-6E4C-293A-5773252AA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ED65F-1256-574A-50DD-0C0DDEA0C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There are many other types of robots. Today, we are going to look at </a:t>
            </a:r>
            <a:r>
              <a:rPr lang="en-US"/>
              <a:t>and discuss these five types: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>
                <a:solidFill>
                  <a:schemeClr val="bg1">
                    <a:lumMod val="76000"/>
                  </a:schemeClr>
                </a:solidFill>
              </a:rPr>
              <a:t>Humanoid Robots</a:t>
            </a:r>
          </a:p>
          <a:p>
            <a:pPr marL="514350" indent="-514350">
              <a:buAutoNum type="arabicPeriod"/>
            </a:pPr>
            <a:r>
              <a:rPr lang="en-US">
                <a:solidFill>
                  <a:schemeClr val="bg1">
                    <a:lumMod val="76000"/>
                  </a:schemeClr>
                </a:solidFill>
              </a:rPr>
              <a:t>Gantry Robots</a:t>
            </a:r>
            <a:endParaRPr lang="en-US" dirty="0">
              <a:solidFill>
                <a:schemeClr val="bg1">
                  <a:lumMod val="76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SCARA </a:t>
            </a:r>
            <a:r>
              <a:rPr lang="en-US">
                <a:solidFill>
                  <a:schemeClr val="bg1">
                    <a:lumMod val="76000"/>
                  </a:schemeClr>
                </a:solidFill>
              </a:rPr>
              <a:t>Robots</a:t>
            </a:r>
            <a:endParaRPr lang="en-US" dirty="0">
              <a:solidFill>
                <a:schemeClr val="bg1">
                  <a:lumMod val="76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US">
                <a:solidFill>
                  <a:schemeClr val="bg1">
                    <a:lumMod val="76000"/>
                  </a:schemeClr>
                </a:solidFill>
              </a:rPr>
              <a:t>Articulated Robots</a:t>
            </a:r>
          </a:p>
          <a:p>
            <a:pPr marL="514350" indent="-514350">
              <a:buAutoNum type="arabicPeriod"/>
            </a:pPr>
            <a:r>
              <a:rPr lang="en-US">
                <a:solidFill>
                  <a:schemeClr val="bg1">
                    <a:lumMod val="76000"/>
                  </a:schemeClr>
                </a:solidFill>
              </a:rPr>
              <a:t>Cobots</a:t>
            </a:r>
          </a:p>
        </p:txBody>
      </p:sp>
    </p:spTree>
    <p:extLst>
      <p:ext uri="{BB962C8B-B14F-4D97-AF65-F5344CB8AC3E}">
        <p14:creationId xmlns:p14="http://schemas.microsoft.com/office/powerpoint/2010/main" val="41094794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533D8-3152-747B-2CD2-CDFB3EC46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BEDB340-B48F-7FD2-ED30-ADE71F973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28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Robots Intro</vt:lpstr>
      <vt:lpstr>Instructor Background</vt:lpstr>
      <vt:lpstr>Outline of Today</vt:lpstr>
      <vt:lpstr>What is a robot?</vt:lpstr>
      <vt:lpstr>In other words...</vt:lpstr>
      <vt:lpstr>Some more examples</vt:lpstr>
      <vt:lpstr>Some robot types</vt:lpstr>
      <vt:lpstr>Humanoid Robots</vt:lpstr>
      <vt:lpstr>Humanoid Robots</vt:lpstr>
      <vt:lpstr>Humanoid Robots</vt:lpstr>
      <vt:lpstr>Humanoid Robots</vt:lpstr>
      <vt:lpstr>Other types</vt:lpstr>
      <vt:lpstr>Gantry Robots</vt:lpstr>
      <vt:lpstr>Gantry Robots</vt:lpstr>
      <vt:lpstr>Gantry Robots</vt:lpstr>
      <vt:lpstr>Gantry Robots</vt:lpstr>
      <vt:lpstr>Other types</vt:lpstr>
      <vt:lpstr>SCARA Robots</vt:lpstr>
      <vt:lpstr>SCARA Robots</vt:lpstr>
      <vt:lpstr>SCARA Robots</vt:lpstr>
      <vt:lpstr>Other types</vt:lpstr>
      <vt:lpstr>Articulated Robots</vt:lpstr>
      <vt:lpstr>Articulated Robots</vt:lpstr>
      <vt:lpstr>Articulated Robots</vt:lpstr>
      <vt:lpstr>Side Note: Right Hand Rule</vt:lpstr>
      <vt:lpstr>Articulated Robots</vt:lpstr>
      <vt:lpstr>Articulated Robots</vt:lpstr>
      <vt:lpstr>Articulated Robots</vt:lpstr>
      <vt:lpstr>Articulated Robots</vt:lpstr>
      <vt:lpstr>Articulated Robots</vt:lpstr>
      <vt:lpstr>Articulated Robots</vt:lpstr>
      <vt:lpstr>Articulated Robots</vt:lpstr>
      <vt:lpstr>Other types</vt:lpstr>
      <vt:lpstr>Cobots</vt:lpstr>
      <vt:lpstr>Other types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650</cp:revision>
  <dcterms:created xsi:type="dcterms:W3CDTF">2026-03-16T20:18:27Z</dcterms:created>
  <dcterms:modified xsi:type="dcterms:W3CDTF">2026-06-11T19:00:49Z</dcterms:modified>
</cp:coreProperties>
</file>